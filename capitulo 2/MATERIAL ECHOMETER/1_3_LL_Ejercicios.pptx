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40" d="100"/>
          <a:sy n="140" d="100"/>
        </p:scale>
        <p:origin x="1650" y="3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27" descr="Echome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1796" y="304800"/>
            <a:ext cx="6070600" cy="1193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 Box 23"/>
          <p:cNvSpPr txBox="1">
            <a:spLocks noChangeArrowheads="1"/>
          </p:cNvSpPr>
          <p:nvPr/>
        </p:nvSpPr>
        <p:spPr bwMode="auto">
          <a:xfrm>
            <a:off x="684213" y="1928802"/>
            <a:ext cx="7848600" cy="258532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VE" sz="54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Ejercicios de Reflexiones Acústicas de </a:t>
            </a:r>
            <a:r>
              <a:rPr lang="es-VE" sz="54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Niveles de Fluido.</a:t>
            </a:r>
            <a:endParaRPr lang="es-VE" sz="54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Line 25"/>
          <p:cNvSpPr>
            <a:spLocks noChangeShapeType="1"/>
          </p:cNvSpPr>
          <p:nvPr/>
        </p:nvSpPr>
        <p:spPr bwMode="auto">
          <a:xfrm>
            <a:off x="738675" y="4429132"/>
            <a:ext cx="7705725" cy="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27" descr="Echome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9680" y="0"/>
            <a:ext cx="1784320" cy="350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5334000" y="3048000"/>
            <a:ext cx="990600" cy="3200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838200"/>
            <a:ext cx="320516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just" fontAlgn="auto">
              <a:spcAft>
                <a:spcPts val="0"/>
              </a:spcAft>
              <a:defRPr/>
            </a:pPr>
            <a:r>
              <a:rPr lang="es-VE" sz="2400" dirty="0" smtClean="0">
                <a:solidFill>
                  <a:schemeClr val="tx2"/>
                </a:solidFill>
                <a:cs typeface="+mn-cs"/>
              </a:rPr>
              <a:t>Dibuje la respuesta acústica de los cambios de área en el pozo e indique en la escala su tiempo de viaje (RTTT).</a:t>
            </a:r>
            <a:endParaRPr lang="es-VE" sz="24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143372" y="714355"/>
            <a:ext cx="3933828" cy="357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400" b="1" smtClean="0">
                <a:solidFill>
                  <a:schemeClr val="tx2"/>
                </a:solidFill>
                <a:cs typeface="+mn-cs"/>
              </a:rPr>
              <a:t>Pulso de Explosión</a:t>
            </a:r>
            <a:endParaRPr lang="es-VE" sz="2400" b="1">
              <a:solidFill>
                <a:schemeClr val="tx2"/>
              </a:solidFill>
              <a:cs typeface="+mn-cs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429000" y="1066800"/>
            <a:ext cx="5486400" cy="5486400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334000" y="1219200"/>
            <a:ext cx="990600" cy="5029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5638800" y="1219200"/>
            <a:ext cx="304800" cy="472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grpSp>
        <p:nvGrpSpPr>
          <p:cNvPr id="11" name="Group 22"/>
          <p:cNvGrpSpPr>
            <a:grpSpLocks/>
          </p:cNvGrpSpPr>
          <p:nvPr/>
        </p:nvGrpSpPr>
        <p:grpSpPr bwMode="auto">
          <a:xfrm>
            <a:off x="4635500" y="1219200"/>
            <a:ext cx="152400" cy="5029200"/>
            <a:chOff x="2832" y="768"/>
            <a:chExt cx="96" cy="3168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880" y="768"/>
              <a:ext cx="0" cy="3168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832" y="76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2832" y="115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832" y="154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2832" y="193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2832" y="232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2832" y="271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2832" y="310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2832" y="349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2832" y="388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7086600" y="1219200"/>
            <a:ext cx="0" cy="5181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010400" y="1219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>
            <a:off x="7010400" y="18383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>
            <a:off x="7010400" y="24574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>
            <a:off x="7010400" y="30765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7010400" y="36957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>
            <a:off x="7010400" y="43148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>
            <a:off x="7010400" y="49339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>
            <a:off x="7010400" y="55530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7010400" y="6172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2" name="Text Box 34"/>
          <p:cNvSpPr txBox="1">
            <a:spLocks noChangeArrowheads="1"/>
          </p:cNvSpPr>
          <p:nvPr/>
        </p:nvSpPr>
        <p:spPr bwMode="auto">
          <a:xfrm rot="5400000">
            <a:off x="2505076" y="3508652"/>
            <a:ext cx="267176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dirty="0" err="1">
                <a:latin typeface="Calibri" pitchFamily="34" charset="0"/>
              </a:rPr>
              <a:t>Profundidad</a:t>
            </a:r>
            <a:r>
              <a:rPr lang="en-US" dirty="0">
                <a:latin typeface="Calibri" pitchFamily="34" charset="0"/>
              </a:rPr>
              <a:t>  (ft).</a:t>
            </a:r>
          </a:p>
        </p:txBody>
      </p:sp>
      <p:sp>
        <p:nvSpPr>
          <p:cNvPr id="33" name="Text Box 35"/>
          <p:cNvSpPr txBox="1">
            <a:spLocks noChangeArrowheads="1"/>
          </p:cNvSpPr>
          <p:nvPr/>
        </p:nvSpPr>
        <p:spPr bwMode="auto">
          <a:xfrm rot="5400000">
            <a:off x="5342732" y="3685381"/>
            <a:ext cx="2743200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Tiempo, segundos</a:t>
            </a:r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>
            <a:off x="7086600" y="1219200"/>
            <a:ext cx="1676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stealth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5" name="Text Box 43"/>
          <p:cNvSpPr txBox="1">
            <a:spLocks noChangeArrowheads="1"/>
          </p:cNvSpPr>
          <p:nvPr/>
        </p:nvSpPr>
        <p:spPr bwMode="auto">
          <a:xfrm>
            <a:off x="37338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36" name="Text Box 44"/>
          <p:cNvSpPr txBox="1">
            <a:spLocks noChangeArrowheads="1"/>
          </p:cNvSpPr>
          <p:nvPr/>
        </p:nvSpPr>
        <p:spPr bwMode="auto">
          <a:xfrm>
            <a:off x="3581400" y="1676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1000</a:t>
            </a:r>
          </a:p>
        </p:txBody>
      </p:sp>
      <p:sp>
        <p:nvSpPr>
          <p:cNvPr id="37" name="Text Box 45"/>
          <p:cNvSpPr txBox="1">
            <a:spLocks noChangeArrowheads="1"/>
          </p:cNvSpPr>
          <p:nvPr/>
        </p:nvSpPr>
        <p:spPr bwMode="auto">
          <a:xfrm>
            <a:off x="3581400" y="2286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2000</a:t>
            </a:r>
          </a:p>
        </p:txBody>
      </p:sp>
      <p:sp>
        <p:nvSpPr>
          <p:cNvPr id="38" name="Text Box 46"/>
          <p:cNvSpPr txBox="1">
            <a:spLocks noChangeArrowheads="1"/>
          </p:cNvSpPr>
          <p:nvPr/>
        </p:nvSpPr>
        <p:spPr bwMode="auto">
          <a:xfrm>
            <a:off x="3581400" y="2895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3000</a:t>
            </a:r>
          </a:p>
        </p:txBody>
      </p:sp>
      <p:sp>
        <p:nvSpPr>
          <p:cNvPr id="39" name="Text Box 47"/>
          <p:cNvSpPr txBox="1">
            <a:spLocks noChangeArrowheads="1"/>
          </p:cNvSpPr>
          <p:nvPr/>
        </p:nvSpPr>
        <p:spPr bwMode="auto">
          <a:xfrm>
            <a:off x="3581400" y="35052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4000</a:t>
            </a:r>
          </a:p>
        </p:txBody>
      </p:sp>
      <p:sp>
        <p:nvSpPr>
          <p:cNvPr id="40" name="Text Box 48"/>
          <p:cNvSpPr txBox="1">
            <a:spLocks noChangeArrowheads="1"/>
          </p:cNvSpPr>
          <p:nvPr/>
        </p:nvSpPr>
        <p:spPr bwMode="auto">
          <a:xfrm>
            <a:off x="3581400" y="41148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5000</a:t>
            </a:r>
          </a:p>
        </p:txBody>
      </p:sp>
      <p:sp>
        <p:nvSpPr>
          <p:cNvPr id="41" name="Text Box 49"/>
          <p:cNvSpPr txBox="1">
            <a:spLocks noChangeArrowheads="1"/>
          </p:cNvSpPr>
          <p:nvPr/>
        </p:nvSpPr>
        <p:spPr bwMode="auto">
          <a:xfrm>
            <a:off x="3581400" y="4724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6000</a:t>
            </a:r>
          </a:p>
        </p:txBody>
      </p:sp>
      <p:sp>
        <p:nvSpPr>
          <p:cNvPr id="42" name="Text Box 50"/>
          <p:cNvSpPr txBox="1">
            <a:spLocks noChangeArrowheads="1"/>
          </p:cNvSpPr>
          <p:nvPr/>
        </p:nvSpPr>
        <p:spPr bwMode="auto">
          <a:xfrm>
            <a:off x="3581400" y="5334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7000</a:t>
            </a:r>
          </a:p>
        </p:txBody>
      </p:sp>
      <p:sp>
        <p:nvSpPr>
          <p:cNvPr id="43" name="Text Box 51"/>
          <p:cNvSpPr txBox="1">
            <a:spLocks noChangeArrowheads="1"/>
          </p:cNvSpPr>
          <p:nvPr/>
        </p:nvSpPr>
        <p:spPr bwMode="auto">
          <a:xfrm>
            <a:off x="3581400" y="5943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8000</a:t>
            </a:r>
          </a:p>
        </p:txBody>
      </p:sp>
      <p:sp>
        <p:nvSpPr>
          <p:cNvPr id="44" name="Freeform 52"/>
          <p:cNvSpPr>
            <a:spLocks/>
          </p:cNvSpPr>
          <p:nvPr/>
        </p:nvSpPr>
        <p:spPr bwMode="auto">
          <a:xfrm>
            <a:off x="7620000" y="1104900"/>
            <a:ext cx="850900" cy="342900"/>
          </a:xfrm>
          <a:custGeom>
            <a:avLst/>
            <a:gdLst>
              <a:gd name="T0" fmla="*/ 328 w 536"/>
              <a:gd name="T1" fmla="*/ 0 h 216"/>
              <a:gd name="T2" fmla="*/ 328 w 536"/>
              <a:gd name="T3" fmla="*/ 56 h 216"/>
              <a:gd name="T4" fmla="*/ 0 w 536"/>
              <a:gd name="T5" fmla="*/ 120 h 216"/>
              <a:gd name="T6" fmla="*/ 536 w 536"/>
              <a:gd name="T7" fmla="*/ 168 h 216"/>
              <a:gd name="T8" fmla="*/ 336 w 536"/>
              <a:gd name="T9" fmla="*/ 216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6"/>
              <a:gd name="T16" fmla="*/ 0 h 216"/>
              <a:gd name="T17" fmla="*/ 536 w 53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6" h="216">
                <a:moveTo>
                  <a:pt x="328" y="0"/>
                </a:moveTo>
                <a:cubicBezTo>
                  <a:pt x="328" y="19"/>
                  <a:pt x="328" y="37"/>
                  <a:pt x="328" y="56"/>
                </a:cubicBezTo>
                <a:lnTo>
                  <a:pt x="0" y="120"/>
                </a:lnTo>
                <a:lnTo>
                  <a:pt x="536" y="168"/>
                </a:lnTo>
                <a:lnTo>
                  <a:pt x="336" y="21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45" name="Text Box 53"/>
          <p:cNvSpPr txBox="1">
            <a:spLocks noChangeArrowheads="1"/>
          </p:cNvSpPr>
          <p:nvPr/>
        </p:nvSpPr>
        <p:spPr bwMode="auto">
          <a:xfrm>
            <a:off x="62484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grpSp>
        <p:nvGrpSpPr>
          <p:cNvPr id="46" name="Group 58"/>
          <p:cNvGrpSpPr>
            <a:grpSpLocks/>
          </p:cNvGrpSpPr>
          <p:nvPr/>
        </p:nvGrpSpPr>
        <p:grpSpPr bwMode="auto">
          <a:xfrm>
            <a:off x="5257800" y="4191000"/>
            <a:ext cx="152400" cy="152400"/>
            <a:chOff x="3312" y="2640"/>
            <a:chExt cx="96" cy="96"/>
          </a:xfrm>
        </p:grpSpPr>
        <p:sp>
          <p:nvSpPr>
            <p:cNvPr id="47" name="Line 55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8" name="Line 56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9" name="Line 57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0" name="Group 59"/>
          <p:cNvGrpSpPr>
            <a:grpSpLocks/>
          </p:cNvGrpSpPr>
          <p:nvPr/>
        </p:nvGrpSpPr>
        <p:grpSpPr bwMode="auto">
          <a:xfrm>
            <a:off x="5257800" y="5486400"/>
            <a:ext cx="152400" cy="152400"/>
            <a:chOff x="3312" y="2640"/>
            <a:chExt cx="96" cy="96"/>
          </a:xfrm>
        </p:grpSpPr>
        <p:sp>
          <p:nvSpPr>
            <p:cNvPr id="51" name="Line 60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2" name="Line 61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3" name="Line 62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4" name="Group 63"/>
          <p:cNvGrpSpPr>
            <a:grpSpLocks/>
          </p:cNvGrpSpPr>
          <p:nvPr/>
        </p:nvGrpSpPr>
        <p:grpSpPr bwMode="auto">
          <a:xfrm>
            <a:off x="6248400" y="4191000"/>
            <a:ext cx="152400" cy="152400"/>
            <a:chOff x="3312" y="2640"/>
            <a:chExt cx="96" cy="96"/>
          </a:xfrm>
        </p:grpSpPr>
        <p:sp>
          <p:nvSpPr>
            <p:cNvPr id="55" name="Line 64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6" name="Line 65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7" name="Line 66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8" name="Group 67"/>
          <p:cNvGrpSpPr>
            <a:grpSpLocks/>
          </p:cNvGrpSpPr>
          <p:nvPr/>
        </p:nvGrpSpPr>
        <p:grpSpPr bwMode="auto">
          <a:xfrm>
            <a:off x="6248400" y="5486400"/>
            <a:ext cx="152400" cy="152400"/>
            <a:chOff x="3312" y="2640"/>
            <a:chExt cx="96" cy="96"/>
          </a:xfrm>
        </p:grpSpPr>
        <p:sp>
          <p:nvSpPr>
            <p:cNvPr id="59" name="Line 68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60" name="Line 69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61" name="Line 70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62" name="Rectangle 3"/>
          <p:cNvSpPr txBox="1">
            <a:spLocks noChangeArrowheads="1"/>
          </p:cNvSpPr>
          <p:nvPr/>
        </p:nvSpPr>
        <p:spPr>
          <a:xfrm>
            <a:off x="180964" y="4486275"/>
            <a:ext cx="2819400" cy="2300288"/>
          </a:xfrm>
          <a:prstGeom prst="rect">
            <a:avLst/>
          </a:prstGeo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s-VE" sz="2000" b="1" dirty="0" smtClean="0">
                <a:ea typeface="+mj-ea"/>
                <a:cs typeface="+mj-cs"/>
              </a:rPr>
              <a:t>Nivel de Fluido:</a:t>
            </a:r>
            <a:br>
              <a:rPr lang="es-VE" sz="2000" b="1" dirty="0" smtClean="0">
                <a:ea typeface="+mj-ea"/>
                <a:cs typeface="+mj-cs"/>
              </a:rPr>
            </a:br>
            <a:r>
              <a:rPr lang="es-VE" sz="2000" b="1" dirty="0" smtClean="0">
                <a:ea typeface="+mj-ea"/>
                <a:cs typeface="+mj-cs"/>
              </a:rPr>
              <a:t>	 3000’ </a:t>
            </a:r>
            <a:br>
              <a:rPr lang="es-VE" sz="2000" b="1" dirty="0" smtClean="0">
                <a:ea typeface="+mj-ea"/>
                <a:cs typeface="+mj-cs"/>
              </a:rPr>
            </a:br>
            <a:r>
              <a:rPr lang="es-VE" sz="2000" b="1" dirty="0" smtClean="0">
                <a:ea typeface="+mj-ea"/>
                <a:cs typeface="+mj-cs"/>
              </a:rPr>
              <a:t/>
            </a:r>
            <a:br>
              <a:rPr lang="es-VE" sz="2000" b="1" dirty="0" smtClean="0">
                <a:ea typeface="+mj-ea"/>
                <a:cs typeface="+mj-cs"/>
              </a:rPr>
            </a:br>
            <a:r>
              <a:rPr lang="es-VE" sz="2000" b="1" dirty="0" smtClean="0">
                <a:ea typeface="+mj-ea"/>
                <a:cs typeface="+mj-cs"/>
              </a:rPr>
              <a:t>Perforaciones:</a:t>
            </a:r>
            <a:br>
              <a:rPr lang="es-VE" sz="2000" b="1" dirty="0" smtClean="0">
                <a:ea typeface="+mj-ea"/>
                <a:cs typeface="+mj-cs"/>
              </a:rPr>
            </a:br>
            <a:r>
              <a:rPr lang="es-VE" sz="2000" b="1" dirty="0" smtClean="0">
                <a:ea typeface="+mj-ea"/>
                <a:cs typeface="+mj-cs"/>
              </a:rPr>
              <a:t>	5000’, </a:t>
            </a:r>
            <a:br>
              <a:rPr lang="es-VE" sz="2000" b="1" dirty="0" smtClean="0">
                <a:ea typeface="+mj-ea"/>
                <a:cs typeface="+mj-cs"/>
              </a:rPr>
            </a:br>
            <a:r>
              <a:rPr lang="es-VE" sz="2000" b="1" dirty="0" smtClean="0">
                <a:ea typeface="+mj-ea"/>
                <a:cs typeface="+mj-cs"/>
              </a:rPr>
              <a:t>	7500</a:t>
            </a:r>
            <a:endParaRPr lang="es-VE" sz="2000" b="1" dirty="0">
              <a:ea typeface="+mj-ea"/>
              <a:cs typeface="+mj-cs"/>
            </a:endParaRPr>
          </a:p>
        </p:txBody>
      </p:sp>
      <p:sp>
        <p:nvSpPr>
          <p:cNvPr id="63" name="Text Box 44"/>
          <p:cNvSpPr txBox="1">
            <a:spLocks noChangeArrowheads="1"/>
          </p:cNvSpPr>
          <p:nvPr/>
        </p:nvSpPr>
        <p:spPr bwMode="auto">
          <a:xfrm>
            <a:off x="214282" y="3500438"/>
            <a:ext cx="3214710" cy="86177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s-VE" sz="2000" b="1" smtClean="0">
                <a:cs typeface="+mn-cs"/>
              </a:rPr>
              <a:t>Velocidad Acústica</a:t>
            </a:r>
          </a:p>
          <a:p>
            <a:pPr marL="457200" fontAlgn="auto">
              <a:spcBef>
                <a:spcPct val="5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s-VE" sz="2000" b="1" smtClean="0">
                <a:cs typeface="+mn-cs"/>
              </a:rPr>
              <a:t> = 1000 ft/sec</a:t>
            </a:r>
            <a:endParaRPr lang="es-VE" sz="2000" b="1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27" descr="Echome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9680" y="0"/>
            <a:ext cx="1784320" cy="350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52400" y="1295400"/>
            <a:ext cx="3133716" cy="38481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40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Un nivel de fluido somero resultará en la grabación de múltiples ecos con intervalos de tiempo</a:t>
            </a:r>
            <a:r>
              <a:rPr kumimoji="0" lang="es-VE" sz="2400" i="0" u="none" strike="noStrike" kern="1200" cap="none" spc="0" normalizeH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 </a:t>
            </a:r>
            <a:r>
              <a:rPr kumimoji="0" lang="es-VE" sz="240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iguales.</a:t>
            </a:r>
            <a:br>
              <a:rPr kumimoji="0" lang="es-VE" sz="240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</a:br>
            <a:r>
              <a:rPr kumimoji="0" lang="es-VE" sz="240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/>
            </a:r>
            <a:br>
              <a:rPr kumimoji="0" lang="es-VE" sz="240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</a:br>
            <a:r>
              <a:rPr kumimoji="0" lang="es-VE" sz="240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Sin reflexiones desde las perforaciones inferiores.</a:t>
            </a:r>
            <a:endParaRPr kumimoji="0" lang="es-VE" sz="2400" i="0" u="none" strike="noStrike" kern="1200" cap="none" spc="0" normalizeH="0" baseline="0" dirty="0">
              <a:ln>
                <a:noFill/>
              </a:ln>
              <a:uLnTx/>
              <a:uFillTx/>
              <a:ea typeface="+mj-ea"/>
              <a:cs typeface="+mj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406241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 smtClean="0">
                <a:cs typeface="+mn-cs"/>
              </a:rPr>
              <a:t>Respuesta Acústica</a:t>
            </a:r>
            <a:endParaRPr lang="es-VE" sz="2800" b="1">
              <a:cs typeface="+mn-cs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334000" y="3048000"/>
            <a:ext cx="990600" cy="3200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3429000" y="1066800"/>
            <a:ext cx="5486400" cy="5486400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5334000" y="1219200"/>
            <a:ext cx="990600" cy="5029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5638800" y="1219200"/>
            <a:ext cx="304800" cy="472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grpSp>
        <p:nvGrpSpPr>
          <p:cNvPr id="10" name="Group 12"/>
          <p:cNvGrpSpPr>
            <a:grpSpLocks/>
          </p:cNvGrpSpPr>
          <p:nvPr/>
        </p:nvGrpSpPr>
        <p:grpSpPr bwMode="auto">
          <a:xfrm>
            <a:off x="4597400" y="1219200"/>
            <a:ext cx="152400" cy="5029200"/>
            <a:chOff x="2832" y="768"/>
            <a:chExt cx="96" cy="3168"/>
          </a:xfrm>
        </p:grpSpPr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2880" y="768"/>
              <a:ext cx="0" cy="3168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>
              <a:off x="2832" y="76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>
              <a:off x="2832" y="115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2832" y="154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5" name="Line 17"/>
            <p:cNvSpPr>
              <a:spLocks noChangeShapeType="1"/>
            </p:cNvSpPr>
            <p:nvPr/>
          </p:nvSpPr>
          <p:spPr bwMode="auto">
            <a:xfrm>
              <a:off x="2832" y="193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>
              <a:off x="2832" y="232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2832" y="271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>
              <a:off x="2832" y="310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9" name="Line 21"/>
            <p:cNvSpPr>
              <a:spLocks noChangeShapeType="1"/>
            </p:cNvSpPr>
            <p:nvPr/>
          </p:nvSpPr>
          <p:spPr bwMode="auto">
            <a:xfrm>
              <a:off x="2832" y="349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>
              <a:off x="2832" y="388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21" name="Line 23"/>
          <p:cNvSpPr>
            <a:spLocks noChangeShapeType="1"/>
          </p:cNvSpPr>
          <p:nvPr/>
        </p:nvSpPr>
        <p:spPr bwMode="auto">
          <a:xfrm>
            <a:off x="7086600" y="1219200"/>
            <a:ext cx="0" cy="5181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7010400" y="1219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010400" y="18383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>
            <a:off x="7010400" y="24574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>
            <a:off x="7010400" y="30765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>
            <a:off x="7010400" y="36957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7010400" y="43148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>
            <a:off x="7010400" y="49339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>
            <a:off x="7010400" y="55530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>
            <a:off x="7010400" y="6172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1" name="Text Box 33"/>
          <p:cNvSpPr txBox="1">
            <a:spLocks noChangeArrowheads="1"/>
          </p:cNvSpPr>
          <p:nvPr/>
        </p:nvSpPr>
        <p:spPr bwMode="auto">
          <a:xfrm rot="5400000">
            <a:off x="2812257" y="3817143"/>
            <a:ext cx="20574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Depth, ft.</a:t>
            </a:r>
          </a:p>
        </p:txBody>
      </p:sp>
      <p:sp>
        <p:nvSpPr>
          <p:cNvPr id="32" name="Text Box 34"/>
          <p:cNvSpPr txBox="1">
            <a:spLocks noChangeArrowheads="1"/>
          </p:cNvSpPr>
          <p:nvPr/>
        </p:nvSpPr>
        <p:spPr bwMode="auto">
          <a:xfrm rot="5400000">
            <a:off x="5364957" y="3931443"/>
            <a:ext cx="27432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Time, seconds</a:t>
            </a:r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7086600" y="1219200"/>
            <a:ext cx="1676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stealth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37338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35" name="Text Box 37"/>
          <p:cNvSpPr txBox="1">
            <a:spLocks noChangeArrowheads="1"/>
          </p:cNvSpPr>
          <p:nvPr/>
        </p:nvSpPr>
        <p:spPr bwMode="auto">
          <a:xfrm>
            <a:off x="3581400" y="1676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1000</a:t>
            </a:r>
          </a:p>
        </p:txBody>
      </p:sp>
      <p:sp>
        <p:nvSpPr>
          <p:cNvPr id="36" name="Text Box 38"/>
          <p:cNvSpPr txBox="1">
            <a:spLocks noChangeArrowheads="1"/>
          </p:cNvSpPr>
          <p:nvPr/>
        </p:nvSpPr>
        <p:spPr bwMode="auto">
          <a:xfrm>
            <a:off x="3581400" y="2286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2000</a:t>
            </a:r>
          </a:p>
        </p:txBody>
      </p:sp>
      <p:sp>
        <p:nvSpPr>
          <p:cNvPr id="37" name="Text Box 39"/>
          <p:cNvSpPr txBox="1">
            <a:spLocks noChangeArrowheads="1"/>
          </p:cNvSpPr>
          <p:nvPr/>
        </p:nvSpPr>
        <p:spPr bwMode="auto">
          <a:xfrm>
            <a:off x="3581400" y="2895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3000</a:t>
            </a:r>
          </a:p>
        </p:txBody>
      </p:sp>
      <p:sp>
        <p:nvSpPr>
          <p:cNvPr id="38" name="Text Box 40"/>
          <p:cNvSpPr txBox="1">
            <a:spLocks noChangeArrowheads="1"/>
          </p:cNvSpPr>
          <p:nvPr/>
        </p:nvSpPr>
        <p:spPr bwMode="auto">
          <a:xfrm>
            <a:off x="3581400" y="35052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4000</a:t>
            </a:r>
          </a:p>
        </p:txBody>
      </p:sp>
      <p:sp>
        <p:nvSpPr>
          <p:cNvPr id="39" name="Text Box 41"/>
          <p:cNvSpPr txBox="1">
            <a:spLocks noChangeArrowheads="1"/>
          </p:cNvSpPr>
          <p:nvPr/>
        </p:nvSpPr>
        <p:spPr bwMode="auto">
          <a:xfrm>
            <a:off x="3581400" y="41148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5000</a:t>
            </a:r>
          </a:p>
        </p:txBody>
      </p:sp>
      <p:sp>
        <p:nvSpPr>
          <p:cNvPr id="40" name="Text Box 42"/>
          <p:cNvSpPr txBox="1">
            <a:spLocks noChangeArrowheads="1"/>
          </p:cNvSpPr>
          <p:nvPr/>
        </p:nvSpPr>
        <p:spPr bwMode="auto">
          <a:xfrm>
            <a:off x="3581400" y="4724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6000</a:t>
            </a:r>
          </a:p>
        </p:txBody>
      </p:sp>
      <p:sp>
        <p:nvSpPr>
          <p:cNvPr id="41" name="Text Box 43"/>
          <p:cNvSpPr txBox="1">
            <a:spLocks noChangeArrowheads="1"/>
          </p:cNvSpPr>
          <p:nvPr/>
        </p:nvSpPr>
        <p:spPr bwMode="auto">
          <a:xfrm>
            <a:off x="3581400" y="5334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7000</a:t>
            </a:r>
          </a:p>
        </p:txBody>
      </p:sp>
      <p:sp>
        <p:nvSpPr>
          <p:cNvPr id="42" name="Text Box 44"/>
          <p:cNvSpPr txBox="1">
            <a:spLocks noChangeArrowheads="1"/>
          </p:cNvSpPr>
          <p:nvPr/>
        </p:nvSpPr>
        <p:spPr bwMode="auto">
          <a:xfrm>
            <a:off x="3581400" y="5943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8000</a:t>
            </a:r>
          </a:p>
        </p:txBody>
      </p:sp>
      <p:sp>
        <p:nvSpPr>
          <p:cNvPr id="43" name="Freeform 45"/>
          <p:cNvSpPr>
            <a:spLocks/>
          </p:cNvSpPr>
          <p:nvPr/>
        </p:nvSpPr>
        <p:spPr bwMode="auto">
          <a:xfrm>
            <a:off x="7620000" y="1104900"/>
            <a:ext cx="812800" cy="342900"/>
          </a:xfrm>
          <a:custGeom>
            <a:avLst/>
            <a:gdLst>
              <a:gd name="T0" fmla="*/ 328 w 512"/>
              <a:gd name="T1" fmla="*/ 0 h 216"/>
              <a:gd name="T2" fmla="*/ 328 w 512"/>
              <a:gd name="T3" fmla="*/ 56 h 216"/>
              <a:gd name="T4" fmla="*/ 0 w 512"/>
              <a:gd name="T5" fmla="*/ 120 h 216"/>
              <a:gd name="T6" fmla="*/ 512 w 512"/>
              <a:gd name="T7" fmla="*/ 152 h 216"/>
              <a:gd name="T8" fmla="*/ 336 w 512"/>
              <a:gd name="T9" fmla="*/ 216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216"/>
              <a:gd name="T17" fmla="*/ 512 w 512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216">
                <a:moveTo>
                  <a:pt x="328" y="0"/>
                </a:moveTo>
                <a:cubicBezTo>
                  <a:pt x="328" y="19"/>
                  <a:pt x="328" y="37"/>
                  <a:pt x="328" y="56"/>
                </a:cubicBezTo>
                <a:lnTo>
                  <a:pt x="0" y="120"/>
                </a:lnTo>
                <a:lnTo>
                  <a:pt x="512" y="152"/>
                </a:lnTo>
                <a:lnTo>
                  <a:pt x="336" y="21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44" name="Text Box 46"/>
          <p:cNvSpPr txBox="1">
            <a:spLocks noChangeArrowheads="1"/>
          </p:cNvSpPr>
          <p:nvPr/>
        </p:nvSpPr>
        <p:spPr bwMode="auto">
          <a:xfrm>
            <a:off x="62484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grpSp>
        <p:nvGrpSpPr>
          <p:cNvPr id="45" name="Group 47"/>
          <p:cNvGrpSpPr>
            <a:grpSpLocks/>
          </p:cNvGrpSpPr>
          <p:nvPr/>
        </p:nvGrpSpPr>
        <p:grpSpPr bwMode="auto">
          <a:xfrm>
            <a:off x="5257800" y="4191000"/>
            <a:ext cx="152400" cy="152400"/>
            <a:chOff x="3312" y="2640"/>
            <a:chExt cx="96" cy="96"/>
          </a:xfrm>
        </p:grpSpPr>
        <p:sp>
          <p:nvSpPr>
            <p:cNvPr id="46" name="Line 48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7" name="Line 49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49" name="Group 51"/>
          <p:cNvGrpSpPr>
            <a:grpSpLocks/>
          </p:cNvGrpSpPr>
          <p:nvPr/>
        </p:nvGrpSpPr>
        <p:grpSpPr bwMode="auto">
          <a:xfrm>
            <a:off x="5257800" y="5486400"/>
            <a:ext cx="152400" cy="152400"/>
            <a:chOff x="3312" y="2640"/>
            <a:chExt cx="96" cy="96"/>
          </a:xfrm>
        </p:grpSpPr>
        <p:sp>
          <p:nvSpPr>
            <p:cNvPr id="50" name="Line 52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1" name="Line 53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2" name="Line 54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3" name="Group 55"/>
          <p:cNvGrpSpPr>
            <a:grpSpLocks/>
          </p:cNvGrpSpPr>
          <p:nvPr/>
        </p:nvGrpSpPr>
        <p:grpSpPr bwMode="auto">
          <a:xfrm>
            <a:off x="6248400" y="4191000"/>
            <a:ext cx="152400" cy="152400"/>
            <a:chOff x="3312" y="2640"/>
            <a:chExt cx="96" cy="96"/>
          </a:xfrm>
        </p:grpSpPr>
        <p:sp>
          <p:nvSpPr>
            <p:cNvPr id="54" name="Line 56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5" name="Line 57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6" name="Line 58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7" name="Group 59"/>
          <p:cNvGrpSpPr>
            <a:grpSpLocks/>
          </p:cNvGrpSpPr>
          <p:nvPr/>
        </p:nvGrpSpPr>
        <p:grpSpPr bwMode="auto">
          <a:xfrm>
            <a:off x="6248400" y="5486400"/>
            <a:ext cx="152400" cy="152400"/>
            <a:chOff x="3312" y="2640"/>
            <a:chExt cx="96" cy="96"/>
          </a:xfrm>
        </p:grpSpPr>
        <p:sp>
          <p:nvSpPr>
            <p:cNvPr id="58" name="Line 60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9" name="Line 61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60" name="Line 62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61" name="Freeform 63"/>
          <p:cNvSpPr>
            <a:spLocks/>
          </p:cNvSpPr>
          <p:nvPr/>
        </p:nvSpPr>
        <p:spPr bwMode="auto">
          <a:xfrm>
            <a:off x="7785100" y="1447800"/>
            <a:ext cx="673100" cy="4800600"/>
          </a:xfrm>
          <a:custGeom>
            <a:avLst/>
            <a:gdLst>
              <a:gd name="T0" fmla="*/ 232 w 424"/>
              <a:gd name="T1" fmla="*/ 0 h 3024"/>
              <a:gd name="T2" fmla="*/ 232 w 424"/>
              <a:gd name="T3" fmla="*/ 1008 h 3024"/>
              <a:gd name="T4" fmla="*/ 0 w 424"/>
              <a:gd name="T5" fmla="*/ 1056 h 3024"/>
              <a:gd name="T6" fmla="*/ 424 w 424"/>
              <a:gd name="T7" fmla="*/ 1104 h 3024"/>
              <a:gd name="T8" fmla="*/ 232 w 424"/>
              <a:gd name="T9" fmla="*/ 1152 h 3024"/>
              <a:gd name="T10" fmla="*/ 232 w 424"/>
              <a:gd name="T11" fmla="*/ 2160 h 3024"/>
              <a:gd name="T12" fmla="*/ 136 w 424"/>
              <a:gd name="T13" fmla="*/ 2208 h 3024"/>
              <a:gd name="T14" fmla="*/ 344 w 424"/>
              <a:gd name="T15" fmla="*/ 2248 h 3024"/>
              <a:gd name="T16" fmla="*/ 240 w 424"/>
              <a:gd name="T17" fmla="*/ 2304 h 3024"/>
              <a:gd name="T18" fmla="*/ 232 w 424"/>
              <a:gd name="T19" fmla="*/ 3024 h 30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24"/>
              <a:gd name="T31" fmla="*/ 0 h 3024"/>
              <a:gd name="T32" fmla="*/ 424 w 424"/>
              <a:gd name="T33" fmla="*/ 3024 h 302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24" h="3024">
                <a:moveTo>
                  <a:pt x="232" y="0"/>
                </a:moveTo>
                <a:lnTo>
                  <a:pt x="232" y="1008"/>
                </a:lnTo>
                <a:lnTo>
                  <a:pt x="0" y="1056"/>
                </a:lnTo>
                <a:lnTo>
                  <a:pt x="424" y="1104"/>
                </a:lnTo>
                <a:lnTo>
                  <a:pt x="232" y="1152"/>
                </a:lnTo>
                <a:lnTo>
                  <a:pt x="232" y="2160"/>
                </a:lnTo>
                <a:lnTo>
                  <a:pt x="136" y="2208"/>
                </a:lnTo>
                <a:lnTo>
                  <a:pt x="344" y="2248"/>
                </a:lnTo>
                <a:lnTo>
                  <a:pt x="240" y="2304"/>
                </a:lnTo>
                <a:lnTo>
                  <a:pt x="232" y="3024"/>
                </a:lnTo>
              </a:path>
            </a:pathLst>
          </a:custGeom>
          <a:noFill/>
          <a:ln w="254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62" name="Text Box 64"/>
          <p:cNvSpPr txBox="1">
            <a:spLocks noChangeArrowheads="1"/>
          </p:cNvSpPr>
          <p:nvPr/>
        </p:nvSpPr>
        <p:spPr bwMode="auto">
          <a:xfrm>
            <a:off x="6629400" y="2895600"/>
            <a:ext cx="8382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6</a:t>
            </a:r>
          </a:p>
        </p:txBody>
      </p:sp>
      <p:sp>
        <p:nvSpPr>
          <p:cNvPr id="63" name="Text Box 65"/>
          <p:cNvSpPr txBox="1">
            <a:spLocks noChangeArrowheads="1"/>
          </p:cNvSpPr>
          <p:nvPr/>
        </p:nvSpPr>
        <p:spPr bwMode="auto">
          <a:xfrm>
            <a:off x="6629400" y="4800600"/>
            <a:ext cx="9906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12</a:t>
            </a:r>
          </a:p>
        </p:txBody>
      </p:sp>
      <p:sp>
        <p:nvSpPr>
          <p:cNvPr id="64" name="Rectangle 6"/>
          <p:cNvSpPr>
            <a:spLocks noChangeArrowheads="1"/>
          </p:cNvSpPr>
          <p:nvPr/>
        </p:nvSpPr>
        <p:spPr bwMode="auto">
          <a:xfrm>
            <a:off x="4500562" y="690563"/>
            <a:ext cx="3576638" cy="380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400" b="1" smtClean="0">
                <a:cs typeface="+mn-cs"/>
              </a:rPr>
              <a:t>Pulso de Explosión</a:t>
            </a:r>
            <a:endParaRPr lang="es-VE" sz="2400" b="1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27" descr="Echome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9680" y="0"/>
            <a:ext cx="1784320" cy="350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334000" y="4953000"/>
            <a:ext cx="990600" cy="1295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23840" y="4599011"/>
            <a:ext cx="2819400" cy="2116137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  <a:t>Nivel</a:t>
            </a: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  <a:t> de </a:t>
            </a:r>
            <a:r>
              <a:rPr kumimoji="0" lang="en-US" sz="20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  <a:t>Fluido</a:t>
            </a: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  <a:t>:</a:t>
            </a:r>
            <a:b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</a:b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  <a:t>	 6000’ </a:t>
            </a:r>
            <a:b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</a:b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  <a:t/>
            </a:r>
            <a:b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</a:br>
            <a:r>
              <a:rPr kumimoji="0" lang="en-US" sz="20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  <a:t>Perforaciones</a:t>
            </a: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  <a:t>:</a:t>
            </a:r>
            <a:b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</a:b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  <a:t>	5000’, </a:t>
            </a:r>
            <a:b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</a:b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  <a:ea typeface="+mj-ea"/>
                <a:cs typeface="+mj-cs"/>
              </a:rPr>
              <a:t>	7500’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ea typeface="+mj-ea"/>
              <a:cs typeface="+mj-cs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429000" y="1066800"/>
            <a:ext cx="5486400" cy="5486400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334000" y="1219200"/>
            <a:ext cx="990600" cy="5029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5638800" y="1219200"/>
            <a:ext cx="304800" cy="472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grpSp>
        <p:nvGrpSpPr>
          <p:cNvPr id="9" name="Group 9"/>
          <p:cNvGrpSpPr>
            <a:grpSpLocks/>
          </p:cNvGrpSpPr>
          <p:nvPr/>
        </p:nvGrpSpPr>
        <p:grpSpPr bwMode="auto">
          <a:xfrm>
            <a:off x="4633913" y="1219200"/>
            <a:ext cx="152400" cy="5029200"/>
            <a:chOff x="2832" y="768"/>
            <a:chExt cx="96" cy="3168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880" y="768"/>
              <a:ext cx="0" cy="3168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2832" y="76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832" y="115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832" y="154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2832" y="193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832" y="232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2832" y="271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2832" y="310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2832" y="349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2832" y="388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7086600" y="1219200"/>
            <a:ext cx="0" cy="5181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>
            <a:off x="7010400" y="1219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>
            <a:off x="7010400" y="18383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7010400" y="24574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>
            <a:off x="7010400" y="30765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>
            <a:off x="7010400" y="36957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>
            <a:off x="7010400" y="43148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>
            <a:off x="7010400" y="49339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>
            <a:off x="7010400" y="55530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>
            <a:off x="7010400" y="6172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 rot="5400000">
            <a:off x="2505076" y="3492500"/>
            <a:ext cx="2671762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Profundidad, ft.</a:t>
            </a: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 rot="5400000">
            <a:off x="5085557" y="3428206"/>
            <a:ext cx="3257550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Tiempo, segundos.</a:t>
            </a:r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7086600" y="1219200"/>
            <a:ext cx="1676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stealth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37338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3581400" y="1676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1000</a:t>
            </a:r>
          </a:p>
        </p:txBody>
      </p:sp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3581400" y="2286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2000</a:t>
            </a:r>
          </a:p>
        </p:txBody>
      </p:sp>
      <p:sp>
        <p:nvSpPr>
          <p:cNvPr id="36" name="Text Box 36"/>
          <p:cNvSpPr txBox="1">
            <a:spLocks noChangeArrowheads="1"/>
          </p:cNvSpPr>
          <p:nvPr/>
        </p:nvSpPr>
        <p:spPr bwMode="auto">
          <a:xfrm>
            <a:off x="3581400" y="2895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3000</a:t>
            </a:r>
          </a:p>
        </p:txBody>
      </p:sp>
      <p:sp>
        <p:nvSpPr>
          <p:cNvPr id="37" name="Text Box 37"/>
          <p:cNvSpPr txBox="1">
            <a:spLocks noChangeArrowheads="1"/>
          </p:cNvSpPr>
          <p:nvPr/>
        </p:nvSpPr>
        <p:spPr bwMode="auto">
          <a:xfrm>
            <a:off x="3581400" y="35052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4000</a:t>
            </a:r>
          </a:p>
        </p:txBody>
      </p:sp>
      <p:sp>
        <p:nvSpPr>
          <p:cNvPr id="38" name="Text Box 38"/>
          <p:cNvSpPr txBox="1">
            <a:spLocks noChangeArrowheads="1"/>
          </p:cNvSpPr>
          <p:nvPr/>
        </p:nvSpPr>
        <p:spPr bwMode="auto">
          <a:xfrm>
            <a:off x="3581400" y="41148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5000</a:t>
            </a:r>
          </a:p>
        </p:txBody>
      </p:sp>
      <p:sp>
        <p:nvSpPr>
          <p:cNvPr id="39" name="Text Box 39"/>
          <p:cNvSpPr txBox="1">
            <a:spLocks noChangeArrowheads="1"/>
          </p:cNvSpPr>
          <p:nvPr/>
        </p:nvSpPr>
        <p:spPr bwMode="auto">
          <a:xfrm>
            <a:off x="3581400" y="4724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6000</a:t>
            </a:r>
          </a:p>
        </p:txBody>
      </p:sp>
      <p:sp>
        <p:nvSpPr>
          <p:cNvPr id="40" name="Text Box 40"/>
          <p:cNvSpPr txBox="1">
            <a:spLocks noChangeArrowheads="1"/>
          </p:cNvSpPr>
          <p:nvPr/>
        </p:nvSpPr>
        <p:spPr bwMode="auto">
          <a:xfrm>
            <a:off x="3581400" y="5334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7000</a:t>
            </a:r>
          </a:p>
        </p:txBody>
      </p:sp>
      <p:sp>
        <p:nvSpPr>
          <p:cNvPr id="41" name="Text Box 41"/>
          <p:cNvSpPr txBox="1">
            <a:spLocks noChangeArrowheads="1"/>
          </p:cNvSpPr>
          <p:nvPr/>
        </p:nvSpPr>
        <p:spPr bwMode="auto">
          <a:xfrm>
            <a:off x="3581400" y="5943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8000</a:t>
            </a:r>
          </a:p>
        </p:txBody>
      </p:sp>
      <p:sp>
        <p:nvSpPr>
          <p:cNvPr id="42" name="Freeform 42"/>
          <p:cNvSpPr>
            <a:spLocks/>
          </p:cNvSpPr>
          <p:nvPr/>
        </p:nvSpPr>
        <p:spPr bwMode="auto">
          <a:xfrm>
            <a:off x="7172325" y="1104900"/>
            <a:ext cx="1619250" cy="342900"/>
          </a:xfrm>
          <a:custGeom>
            <a:avLst/>
            <a:gdLst>
              <a:gd name="T0" fmla="*/ 610 w 1020"/>
              <a:gd name="T1" fmla="*/ 0 h 216"/>
              <a:gd name="T2" fmla="*/ 610 w 1020"/>
              <a:gd name="T3" fmla="*/ 56 h 216"/>
              <a:gd name="T4" fmla="*/ 0 w 1020"/>
              <a:gd name="T5" fmla="*/ 132 h 216"/>
              <a:gd name="T6" fmla="*/ 1020 w 1020"/>
              <a:gd name="T7" fmla="*/ 180 h 216"/>
              <a:gd name="T8" fmla="*/ 618 w 1020"/>
              <a:gd name="T9" fmla="*/ 216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0"/>
              <a:gd name="T16" fmla="*/ 0 h 216"/>
              <a:gd name="T17" fmla="*/ 1020 w 1020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0" h="216">
                <a:moveTo>
                  <a:pt x="610" y="0"/>
                </a:moveTo>
                <a:cubicBezTo>
                  <a:pt x="610" y="19"/>
                  <a:pt x="610" y="37"/>
                  <a:pt x="610" y="56"/>
                </a:cubicBezTo>
                <a:lnTo>
                  <a:pt x="0" y="132"/>
                </a:lnTo>
                <a:lnTo>
                  <a:pt x="1020" y="180"/>
                </a:lnTo>
                <a:lnTo>
                  <a:pt x="618" y="21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43" name="Text Box 43"/>
          <p:cNvSpPr txBox="1">
            <a:spLocks noChangeArrowheads="1"/>
          </p:cNvSpPr>
          <p:nvPr/>
        </p:nvSpPr>
        <p:spPr bwMode="auto">
          <a:xfrm>
            <a:off x="62484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44" name="Text Box 44"/>
          <p:cNvSpPr txBox="1">
            <a:spLocks noChangeArrowheads="1"/>
          </p:cNvSpPr>
          <p:nvPr/>
        </p:nvSpPr>
        <p:spPr bwMode="auto">
          <a:xfrm>
            <a:off x="-123828" y="3617913"/>
            <a:ext cx="2981316" cy="86177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fontAlgn="auto">
              <a:spcBef>
                <a:spcPct val="5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s-VE" sz="2000" dirty="0" smtClean="0">
                <a:cs typeface="+mn-cs"/>
              </a:rPr>
              <a:t>Velocidad Acústica</a:t>
            </a:r>
          </a:p>
          <a:p>
            <a:pPr marL="457200" fontAlgn="auto">
              <a:spcBef>
                <a:spcPct val="5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s-VE" sz="2000" dirty="0" smtClean="0">
                <a:cs typeface="+mn-cs"/>
              </a:rPr>
              <a:t> = 1000 ft/</a:t>
            </a:r>
            <a:r>
              <a:rPr lang="es-VE" sz="2000" dirty="0" err="1" smtClean="0">
                <a:cs typeface="+mn-cs"/>
              </a:rPr>
              <a:t>sec</a:t>
            </a:r>
            <a:endParaRPr lang="es-VE" sz="2000" dirty="0">
              <a:cs typeface="+mn-cs"/>
            </a:endParaRPr>
          </a:p>
        </p:txBody>
      </p:sp>
      <p:grpSp>
        <p:nvGrpSpPr>
          <p:cNvPr id="45" name="Group 45"/>
          <p:cNvGrpSpPr>
            <a:grpSpLocks/>
          </p:cNvGrpSpPr>
          <p:nvPr/>
        </p:nvGrpSpPr>
        <p:grpSpPr bwMode="auto">
          <a:xfrm>
            <a:off x="5257800" y="4191000"/>
            <a:ext cx="152400" cy="152400"/>
            <a:chOff x="3312" y="2640"/>
            <a:chExt cx="96" cy="96"/>
          </a:xfrm>
        </p:grpSpPr>
        <p:sp>
          <p:nvSpPr>
            <p:cNvPr id="46" name="Line 46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8" name="Line 48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49" name="Group 49"/>
          <p:cNvGrpSpPr>
            <a:grpSpLocks/>
          </p:cNvGrpSpPr>
          <p:nvPr/>
        </p:nvGrpSpPr>
        <p:grpSpPr bwMode="auto">
          <a:xfrm>
            <a:off x="5257800" y="5715000"/>
            <a:ext cx="152400" cy="152400"/>
            <a:chOff x="3312" y="2640"/>
            <a:chExt cx="96" cy="96"/>
          </a:xfrm>
        </p:grpSpPr>
        <p:sp>
          <p:nvSpPr>
            <p:cNvPr id="50" name="Line 50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1" name="Line 51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2" name="Line 52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3" name="Group 53"/>
          <p:cNvGrpSpPr>
            <a:grpSpLocks/>
          </p:cNvGrpSpPr>
          <p:nvPr/>
        </p:nvGrpSpPr>
        <p:grpSpPr bwMode="auto">
          <a:xfrm>
            <a:off x="6248400" y="4191000"/>
            <a:ext cx="152400" cy="152400"/>
            <a:chOff x="3312" y="2640"/>
            <a:chExt cx="96" cy="96"/>
          </a:xfrm>
        </p:grpSpPr>
        <p:sp>
          <p:nvSpPr>
            <p:cNvPr id="54" name="Line 54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5" name="Line 55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6" name="Line 56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7" name="Group 57"/>
          <p:cNvGrpSpPr>
            <a:grpSpLocks/>
          </p:cNvGrpSpPr>
          <p:nvPr/>
        </p:nvGrpSpPr>
        <p:grpSpPr bwMode="auto">
          <a:xfrm>
            <a:off x="6248400" y="5715000"/>
            <a:ext cx="152400" cy="152400"/>
            <a:chOff x="3312" y="2640"/>
            <a:chExt cx="96" cy="96"/>
          </a:xfrm>
        </p:grpSpPr>
        <p:sp>
          <p:nvSpPr>
            <p:cNvPr id="58" name="Line 58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9" name="Line 59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60" name="Line 60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61" name="Rectangle 5"/>
          <p:cNvSpPr>
            <a:spLocks noChangeArrowheads="1"/>
          </p:cNvSpPr>
          <p:nvPr/>
        </p:nvSpPr>
        <p:spPr bwMode="auto">
          <a:xfrm>
            <a:off x="152400" y="838200"/>
            <a:ext cx="320516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400" smtClean="0">
                <a:solidFill>
                  <a:schemeClr val="tx2"/>
                </a:solidFill>
                <a:cs typeface="+mn-cs"/>
              </a:rPr>
              <a:t>Dibuje la respuesta acústica de los cambios de área en el pozo e indique en la escala su tiempo de viaje (RTTT).</a:t>
            </a:r>
            <a:endParaRPr lang="es-VE" sz="2400">
              <a:solidFill>
                <a:schemeClr val="tx2"/>
              </a:solidFill>
              <a:cs typeface="+mn-cs"/>
            </a:endParaRPr>
          </a:p>
        </p:txBody>
      </p:sp>
      <p:sp>
        <p:nvSpPr>
          <p:cNvPr id="62" name="Rectangle 6"/>
          <p:cNvSpPr>
            <a:spLocks noChangeArrowheads="1"/>
          </p:cNvSpPr>
          <p:nvPr/>
        </p:nvSpPr>
        <p:spPr bwMode="auto">
          <a:xfrm>
            <a:off x="4071934" y="690562"/>
            <a:ext cx="4005266" cy="452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400" dirty="0" smtClean="0">
                <a:solidFill>
                  <a:schemeClr val="tx2"/>
                </a:solidFill>
                <a:cs typeface="+mn-cs"/>
              </a:rPr>
              <a:t>Pulso de Explosión</a:t>
            </a:r>
            <a:endParaRPr lang="es-VE" sz="2400" dirty="0">
              <a:solidFill>
                <a:schemeClr val="tx2"/>
              </a:solidFill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27" descr="Echome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9680" y="0"/>
            <a:ext cx="1784320" cy="350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334000" y="4953000"/>
            <a:ext cx="990600" cy="1295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04800" y="4843464"/>
            <a:ext cx="2819400" cy="187168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Nivel de Fluido:</a:t>
            </a:r>
            <a:b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</a:br>
            <a: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	 6000’ </a:t>
            </a:r>
            <a:b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</a:br>
            <a:r>
              <a:rPr kumimoji="0" lang="es-VE" sz="9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/>
            </a:r>
            <a:br>
              <a:rPr kumimoji="0" lang="es-VE" sz="9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</a:br>
            <a: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Perforaciones:</a:t>
            </a:r>
            <a:b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</a:br>
            <a: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	5000’, </a:t>
            </a:r>
            <a:b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</a:br>
            <a: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	7500’</a:t>
            </a:r>
            <a:endParaRPr kumimoji="0" lang="es-VE" sz="2000" b="0" i="0" u="none" strike="noStrike" kern="1200" cap="none" spc="0" normalizeH="0" baseline="0" dirty="0">
              <a:ln>
                <a:noFill/>
              </a:ln>
              <a:uLnTx/>
              <a:uFillTx/>
              <a:ea typeface="+mj-ea"/>
              <a:cs typeface="+mj-cs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429000" y="1066800"/>
            <a:ext cx="5486400" cy="5486400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334000" y="1219200"/>
            <a:ext cx="990600" cy="5029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5638800" y="1219200"/>
            <a:ext cx="304800" cy="472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grpSp>
        <p:nvGrpSpPr>
          <p:cNvPr id="9" name="Group 9"/>
          <p:cNvGrpSpPr>
            <a:grpSpLocks/>
          </p:cNvGrpSpPr>
          <p:nvPr/>
        </p:nvGrpSpPr>
        <p:grpSpPr bwMode="auto">
          <a:xfrm>
            <a:off x="4643438" y="1219200"/>
            <a:ext cx="152400" cy="5029200"/>
            <a:chOff x="2832" y="768"/>
            <a:chExt cx="96" cy="3168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880" y="768"/>
              <a:ext cx="0" cy="3168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2832" y="76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832" y="115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832" y="154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2832" y="193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832" y="232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2832" y="271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2832" y="310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2832" y="349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2832" y="388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7086600" y="1219200"/>
            <a:ext cx="0" cy="5181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>
            <a:off x="7010400" y="1219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>
            <a:off x="7010400" y="18383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7010400" y="24574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>
            <a:off x="7010400" y="30765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>
            <a:off x="7010400" y="36957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>
            <a:off x="7010400" y="43148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>
            <a:off x="7010400" y="49339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>
            <a:off x="7010400" y="55530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>
            <a:off x="7010400" y="6172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 rot="5400000">
            <a:off x="2433638" y="3421063"/>
            <a:ext cx="2814637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Profundidad, ft.</a:t>
            </a: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 rot="5400000">
            <a:off x="5342732" y="3685381"/>
            <a:ext cx="2743200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Tiempo, segundos.</a:t>
            </a:r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7086600" y="1219200"/>
            <a:ext cx="1676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stealth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37338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3581400" y="1676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1000</a:t>
            </a:r>
          </a:p>
        </p:txBody>
      </p:sp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3581400" y="2286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2000</a:t>
            </a:r>
          </a:p>
        </p:txBody>
      </p:sp>
      <p:sp>
        <p:nvSpPr>
          <p:cNvPr id="36" name="Text Box 36"/>
          <p:cNvSpPr txBox="1">
            <a:spLocks noChangeArrowheads="1"/>
          </p:cNvSpPr>
          <p:nvPr/>
        </p:nvSpPr>
        <p:spPr bwMode="auto">
          <a:xfrm>
            <a:off x="3581400" y="2895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3000</a:t>
            </a:r>
          </a:p>
        </p:txBody>
      </p:sp>
      <p:sp>
        <p:nvSpPr>
          <p:cNvPr id="37" name="Text Box 37"/>
          <p:cNvSpPr txBox="1">
            <a:spLocks noChangeArrowheads="1"/>
          </p:cNvSpPr>
          <p:nvPr/>
        </p:nvSpPr>
        <p:spPr bwMode="auto">
          <a:xfrm>
            <a:off x="3581400" y="35052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4000</a:t>
            </a:r>
          </a:p>
        </p:txBody>
      </p:sp>
      <p:sp>
        <p:nvSpPr>
          <p:cNvPr id="38" name="Text Box 38"/>
          <p:cNvSpPr txBox="1">
            <a:spLocks noChangeArrowheads="1"/>
          </p:cNvSpPr>
          <p:nvPr/>
        </p:nvSpPr>
        <p:spPr bwMode="auto">
          <a:xfrm>
            <a:off x="3581400" y="41148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5000</a:t>
            </a:r>
          </a:p>
        </p:txBody>
      </p:sp>
      <p:sp>
        <p:nvSpPr>
          <p:cNvPr id="39" name="Text Box 39"/>
          <p:cNvSpPr txBox="1">
            <a:spLocks noChangeArrowheads="1"/>
          </p:cNvSpPr>
          <p:nvPr/>
        </p:nvSpPr>
        <p:spPr bwMode="auto">
          <a:xfrm>
            <a:off x="3581400" y="4724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6000</a:t>
            </a:r>
          </a:p>
        </p:txBody>
      </p:sp>
      <p:sp>
        <p:nvSpPr>
          <p:cNvPr id="40" name="Text Box 40"/>
          <p:cNvSpPr txBox="1">
            <a:spLocks noChangeArrowheads="1"/>
          </p:cNvSpPr>
          <p:nvPr/>
        </p:nvSpPr>
        <p:spPr bwMode="auto">
          <a:xfrm>
            <a:off x="3581400" y="5334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7000</a:t>
            </a:r>
          </a:p>
        </p:txBody>
      </p:sp>
      <p:sp>
        <p:nvSpPr>
          <p:cNvPr id="41" name="Text Box 41"/>
          <p:cNvSpPr txBox="1">
            <a:spLocks noChangeArrowheads="1"/>
          </p:cNvSpPr>
          <p:nvPr/>
        </p:nvSpPr>
        <p:spPr bwMode="auto">
          <a:xfrm>
            <a:off x="3581400" y="5943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8000</a:t>
            </a:r>
          </a:p>
        </p:txBody>
      </p:sp>
      <p:sp>
        <p:nvSpPr>
          <p:cNvPr id="42" name="Freeform 42"/>
          <p:cNvSpPr>
            <a:spLocks/>
          </p:cNvSpPr>
          <p:nvPr/>
        </p:nvSpPr>
        <p:spPr bwMode="auto">
          <a:xfrm>
            <a:off x="7172325" y="1104900"/>
            <a:ext cx="1619250" cy="342900"/>
          </a:xfrm>
          <a:custGeom>
            <a:avLst/>
            <a:gdLst>
              <a:gd name="T0" fmla="*/ 610 w 1020"/>
              <a:gd name="T1" fmla="*/ 0 h 216"/>
              <a:gd name="T2" fmla="*/ 610 w 1020"/>
              <a:gd name="T3" fmla="*/ 56 h 216"/>
              <a:gd name="T4" fmla="*/ 0 w 1020"/>
              <a:gd name="T5" fmla="*/ 132 h 216"/>
              <a:gd name="T6" fmla="*/ 1020 w 1020"/>
              <a:gd name="T7" fmla="*/ 180 h 216"/>
              <a:gd name="T8" fmla="*/ 618 w 1020"/>
              <a:gd name="T9" fmla="*/ 216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0"/>
              <a:gd name="T16" fmla="*/ 0 h 216"/>
              <a:gd name="T17" fmla="*/ 1020 w 1020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0" h="216">
                <a:moveTo>
                  <a:pt x="610" y="0"/>
                </a:moveTo>
                <a:cubicBezTo>
                  <a:pt x="610" y="19"/>
                  <a:pt x="610" y="37"/>
                  <a:pt x="610" y="56"/>
                </a:cubicBezTo>
                <a:lnTo>
                  <a:pt x="0" y="132"/>
                </a:lnTo>
                <a:lnTo>
                  <a:pt x="1020" y="180"/>
                </a:lnTo>
                <a:lnTo>
                  <a:pt x="618" y="21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43" name="Text Box 43"/>
          <p:cNvSpPr txBox="1">
            <a:spLocks noChangeArrowheads="1"/>
          </p:cNvSpPr>
          <p:nvPr/>
        </p:nvSpPr>
        <p:spPr bwMode="auto">
          <a:xfrm>
            <a:off x="62484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44" name="Text Box 44"/>
          <p:cNvSpPr txBox="1">
            <a:spLocks noChangeArrowheads="1"/>
          </p:cNvSpPr>
          <p:nvPr/>
        </p:nvSpPr>
        <p:spPr bwMode="auto">
          <a:xfrm>
            <a:off x="0" y="3778250"/>
            <a:ext cx="3286116" cy="86177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fontAlgn="auto">
              <a:spcBef>
                <a:spcPct val="5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s-VE" sz="2000" smtClean="0">
                <a:cs typeface="+mn-cs"/>
              </a:rPr>
              <a:t>Velocidad  Acústica</a:t>
            </a:r>
          </a:p>
          <a:p>
            <a:pPr marL="457200" fontAlgn="auto">
              <a:spcBef>
                <a:spcPct val="5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s-VE" sz="2000" smtClean="0">
                <a:cs typeface="+mn-cs"/>
              </a:rPr>
              <a:t> = 1000 ft/sec</a:t>
            </a:r>
            <a:endParaRPr lang="es-VE" sz="2000">
              <a:cs typeface="+mn-cs"/>
            </a:endParaRPr>
          </a:p>
        </p:txBody>
      </p:sp>
      <p:grpSp>
        <p:nvGrpSpPr>
          <p:cNvPr id="45" name="Group 45"/>
          <p:cNvGrpSpPr>
            <a:grpSpLocks/>
          </p:cNvGrpSpPr>
          <p:nvPr/>
        </p:nvGrpSpPr>
        <p:grpSpPr bwMode="auto">
          <a:xfrm>
            <a:off x="5257800" y="4191000"/>
            <a:ext cx="152400" cy="152400"/>
            <a:chOff x="3312" y="2640"/>
            <a:chExt cx="96" cy="96"/>
          </a:xfrm>
        </p:grpSpPr>
        <p:sp>
          <p:nvSpPr>
            <p:cNvPr id="46" name="Line 46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8" name="Line 48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49" name="Group 49"/>
          <p:cNvGrpSpPr>
            <a:grpSpLocks/>
          </p:cNvGrpSpPr>
          <p:nvPr/>
        </p:nvGrpSpPr>
        <p:grpSpPr bwMode="auto">
          <a:xfrm>
            <a:off x="5257800" y="5715000"/>
            <a:ext cx="152400" cy="152400"/>
            <a:chOff x="3312" y="2640"/>
            <a:chExt cx="96" cy="96"/>
          </a:xfrm>
        </p:grpSpPr>
        <p:sp>
          <p:nvSpPr>
            <p:cNvPr id="50" name="Line 50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1" name="Line 51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2" name="Line 52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3" name="Group 53"/>
          <p:cNvGrpSpPr>
            <a:grpSpLocks/>
          </p:cNvGrpSpPr>
          <p:nvPr/>
        </p:nvGrpSpPr>
        <p:grpSpPr bwMode="auto">
          <a:xfrm>
            <a:off x="6248400" y="4191000"/>
            <a:ext cx="152400" cy="152400"/>
            <a:chOff x="3312" y="2640"/>
            <a:chExt cx="96" cy="96"/>
          </a:xfrm>
        </p:grpSpPr>
        <p:sp>
          <p:nvSpPr>
            <p:cNvPr id="54" name="Line 54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5" name="Line 55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6" name="Line 56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7" name="Group 57"/>
          <p:cNvGrpSpPr>
            <a:grpSpLocks/>
          </p:cNvGrpSpPr>
          <p:nvPr/>
        </p:nvGrpSpPr>
        <p:grpSpPr bwMode="auto">
          <a:xfrm>
            <a:off x="6248400" y="5715000"/>
            <a:ext cx="152400" cy="152400"/>
            <a:chOff x="3312" y="2640"/>
            <a:chExt cx="96" cy="96"/>
          </a:xfrm>
        </p:grpSpPr>
        <p:sp>
          <p:nvSpPr>
            <p:cNvPr id="58" name="Line 58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9" name="Line 59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60" name="Line 60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61" name="Freeform 61"/>
          <p:cNvSpPr>
            <a:spLocks/>
          </p:cNvSpPr>
          <p:nvPr/>
        </p:nvSpPr>
        <p:spPr bwMode="auto">
          <a:xfrm>
            <a:off x="7772400" y="1447800"/>
            <a:ext cx="838200" cy="4648200"/>
          </a:xfrm>
          <a:custGeom>
            <a:avLst/>
            <a:gdLst>
              <a:gd name="T0" fmla="*/ 240 w 528"/>
              <a:gd name="T1" fmla="*/ 0 h 2928"/>
              <a:gd name="T2" fmla="*/ 240 w 528"/>
              <a:gd name="T3" fmla="*/ 1776 h 2928"/>
              <a:gd name="T4" fmla="*/ 528 w 528"/>
              <a:gd name="T5" fmla="*/ 1824 h 2928"/>
              <a:gd name="T6" fmla="*/ 0 w 528"/>
              <a:gd name="T7" fmla="*/ 1872 h 2928"/>
              <a:gd name="T8" fmla="*/ 240 w 528"/>
              <a:gd name="T9" fmla="*/ 1920 h 2928"/>
              <a:gd name="T10" fmla="*/ 240 w 528"/>
              <a:gd name="T11" fmla="*/ 2160 h 2928"/>
              <a:gd name="T12" fmla="*/ 84 w 528"/>
              <a:gd name="T13" fmla="*/ 2188 h 2928"/>
              <a:gd name="T14" fmla="*/ 360 w 528"/>
              <a:gd name="T15" fmla="*/ 2208 h 2928"/>
              <a:gd name="T16" fmla="*/ 328 w 528"/>
              <a:gd name="T17" fmla="*/ 2228 h 2928"/>
              <a:gd name="T18" fmla="*/ 236 w 528"/>
              <a:gd name="T19" fmla="*/ 2248 h 2928"/>
              <a:gd name="T20" fmla="*/ 240 w 528"/>
              <a:gd name="T21" fmla="*/ 2592 h 2928"/>
              <a:gd name="T22" fmla="*/ 352 w 528"/>
              <a:gd name="T23" fmla="*/ 2624 h 2928"/>
              <a:gd name="T24" fmla="*/ 148 w 528"/>
              <a:gd name="T25" fmla="*/ 2636 h 2928"/>
              <a:gd name="T26" fmla="*/ 232 w 528"/>
              <a:gd name="T27" fmla="*/ 2672 h 2928"/>
              <a:gd name="T28" fmla="*/ 240 w 528"/>
              <a:gd name="T29" fmla="*/ 2928 h 292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28"/>
              <a:gd name="T46" fmla="*/ 0 h 2928"/>
              <a:gd name="T47" fmla="*/ 528 w 528"/>
              <a:gd name="T48" fmla="*/ 2928 h 2928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28" h="2928">
                <a:moveTo>
                  <a:pt x="240" y="0"/>
                </a:moveTo>
                <a:lnTo>
                  <a:pt x="240" y="1776"/>
                </a:lnTo>
                <a:lnTo>
                  <a:pt x="528" y="1824"/>
                </a:lnTo>
                <a:lnTo>
                  <a:pt x="0" y="1872"/>
                </a:lnTo>
                <a:lnTo>
                  <a:pt x="240" y="1920"/>
                </a:lnTo>
                <a:lnTo>
                  <a:pt x="240" y="2160"/>
                </a:lnTo>
                <a:lnTo>
                  <a:pt x="84" y="2188"/>
                </a:lnTo>
                <a:lnTo>
                  <a:pt x="360" y="2208"/>
                </a:lnTo>
                <a:lnTo>
                  <a:pt x="328" y="2228"/>
                </a:lnTo>
                <a:lnTo>
                  <a:pt x="236" y="2248"/>
                </a:lnTo>
                <a:lnTo>
                  <a:pt x="240" y="2592"/>
                </a:lnTo>
                <a:lnTo>
                  <a:pt x="352" y="2624"/>
                </a:lnTo>
                <a:lnTo>
                  <a:pt x="148" y="2636"/>
                </a:lnTo>
                <a:lnTo>
                  <a:pt x="232" y="2672"/>
                </a:lnTo>
                <a:lnTo>
                  <a:pt x="240" y="2928"/>
                </a:lnTo>
              </a:path>
            </a:pathLst>
          </a:custGeom>
          <a:noFill/>
          <a:ln w="254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62" name="Text Box 62"/>
          <p:cNvSpPr txBox="1">
            <a:spLocks noChangeArrowheads="1"/>
          </p:cNvSpPr>
          <p:nvPr/>
        </p:nvSpPr>
        <p:spPr bwMode="auto">
          <a:xfrm>
            <a:off x="39322" y="571480"/>
            <a:ext cx="3571869" cy="317009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s-VE" sz="2000" dirty="0" smtClean="0"/>
              <a:t>El echo en las perforaciones tiene la máxima amplitud.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s-VE" sz="2000" dirty="0" smtClean="0"/>
              <a:t>El nivel de líquido por debajo de las perforaciones causa múltiples Ecos con la misma polaridad de las perforaciones.</a:t>
            </a:r>
          </a:p>
          <a:p>
            <a:pPr>
              <a:spcBef>
                <a:spcPct val="50000"/>
              </a:spcBef>
            </a:pPr>
            <a:r>
              <a:rPr lang="es-VE" sz="2000" dirty="0" smtClean="0"/>
              <a:t>Sin </a:t>
            </a:r>
            <a:r>
              <a:rPr lang="es-VE" sz="2000" dirty="0"/>
              <a:t>reflexiones desde las perforaciones inferiores</a:t>
            </a:r>
            <a:r>
              <a:rPr lang="es-VE" sz="2000" dirty="0" smtClean="0"/>
              <a:t>.</a:t>
            </a:r>
            <a:endParaRPr lang="es-VE" sz="2000" dirty="0"/>
          </a:p>
        </p:txBody>
      </p:sp>
      <p:sp>
        <p:nvSpPr>
          <p:cNvPr id="63" name="Text Box 63"/>
          <p:cNvSpPr txBox="1">
            <a:spLocks noChangeArrowheads="1"/>
          </p:cNvSpPr>
          <p:nvPr/>
        </p:nvSpPr>
        <p:spPr bwMode="auto">
          <a:xfrm>
            <a:off x="8077200" y="4191000"/>
            <a:ext cx="9906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Pf</a:t>
            </a:r>
          </a:p>
        </p:txBody>
      </p:sp>
      <p:sp>
        <p:nvSpPr>
          <p:cNvPr id="64" name="Text Box 64"/>
          <p:cNvSpPr txBox="1">
            <a:spLocks noChangeArrowheads="1"/>
          </p:cNvSpPr>
          <p:nvPr/>
        </p:nvSpPr>
        <p:spPr bwMode="auto">
          <a:xfrm>
            <a:off x="7924800" y="4724400"/>
            <a:ext cx="9906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Ll</a:t>
            </a:r>
          </a:p>
        </p:txBody>
      </p:sp>
      <p:sp>
        <p:nvSpPr>
          <p:cNvPr id="65" name="Text Box 65"/>
          <p:cNvSpPr txBox="1">
            <a:spLocks noChangeArrowheads="1"/>
          </p:cNvSpPr>
          <p:nvPr/>
        </p:nvSpPr>
        <p:spPr bwMode="auto">
          <a:xfrm>
            <a:off x="7848600" y="5486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LlPf</a:t>
            </a:r>
          </a:p>
        </p:txBody>
      </p:sp>
      <p:sp>
        <p:nvSpPr>
          <p:cNvPr id="66" name="Text Box 66"/>
          <p:cNvSpPr txBox="1">
            <a:spLocks noChangeArrowheads="1"/>
          </p:cNvSpPr>
          <p:nvPr/>
        </p:nvSpPr>
        <p:spPr bwMode="auto">
          <a:xfrm>
            <a:off x="6781800" y="4191000"/>
            <a:ext cx="9906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10</a:t>
            </a:r>
          </a:p>
        </p:txBody>
      </p:sp>
      <p:sp>
        <p:nvSpPr>
          <p:cNvPr id="67" name="Text Box 67"/>
          <p:cNvSpPr txBox="1">
            <a:spLocks noChangeArrowheads="1"/>
          </p:cNvSpPr>
          <p:nvPr/>
        </p:nvSpPr>
        <p:spPr bwMode="auto">
          <a:xfrm>
            <a:off x="6858000" y="4800600"/>
            <a:ext cx="9906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12</a:t>
            </a:r>
          </a:p>
        </p:txBody>
      </p:sp>
      <p:sp>
        <p:nvSpPr>
          <p:cNvPr id="68" name="Text Box 68"/>
          <p:cNvSpPr txBox="1">
            <a:spLocks noChangeArrowheads="1"/>
          </p:cNvSpPr>
          <p:nvPr/>
        </p:nvSpPr>
        <p:spPr bwMode="auto">
          <a:xfrm>
            <a:off x="6858000" y="5410200"/>
            <a:ext cx="9906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14</a:t>
            </a:r>
          </a:p>
        </p:txBody>
      </p:sp>
      <p:sp>
        <p:nvSpPr>
          <p:cNvPr id="69" name="Rectangle 6"/>
          <p:cNvSpPr>
            <a:spLocks noChangeArrowheads="1"/>
          </p:cNvSpPr>
          <p:nvPr/>
        </p:nvSpPr>
        <p:spPr bwMode="auto">
          <a:xfrm>
            <a:off x="4067196" y="571480"/>
            <a:ext cx="4148142" cy="500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rPr>
              <a:t>Pulso de Explosión</a:t>
            </a:r>
            <a:endParaRPr lang="es-VE" sz="24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27" descr="Echome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9680" y="0"/>
            <a:ext cx="1784320" cy="350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3074"/>
          <p:cNvSpPr txBox="1">
            <a:spLocks noChangeArrowheads="1"/>
          </p:cNvSpPr>
          <p:nvPr/>
        </p:nvSpPr>
        <p:spPr>
          <a:xfrm>
            <a:off x="152391" y="4572008"/>
            <a:ext cx="3205163" cy="1638319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000" b="0" i="0" u="none" strike="noStrike" kern="1200" cap="none" spc="0" normalizeH="0" baseline="0" dirty="0" err="1" smtClean="0">
                <a:ln>
                  <a:noFill/>
                </a:ln>
                <a:uLnTx/>
                <a:uFillTx/>
                <a:ea typeface="+mj-ea"/>
                <a:cs typeface="+mj-cs"/>
              </a:rPr>
              <a:t>Liner</a:t>
            </a:r>
            <a: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 @ 3000’</a:t>
            </a:r>
            <a:b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</a:br>
            <a: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/>
            </a:r>
            <a:b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</a:br>
            <a: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Nivel de Líquido@4000</a:t>
            </a:r>
            <a:r>
              <a:rPr kumimoji="0" lang="es-VE" sz="2000" b="1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’ </a:t>
            </a:r>
            <a:br>
              <a:rPr kumimoji="0" lang="es-VE" sz="2000" b="1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</a:br>
            <a:endParaRPr kumimoji="0" lang="es-VE" sz="2000" b="1" i="0" u="none" strike="noStrike" kern="1200" cap="none" spc="0" normalizeH="0" baseline="0" dirty="0">
              <a:ln>
                <a:noFill/>
              </a:ln>
              <a:uLnTx/>
              <a:uFillTx/>
              <a:ea typeface="+mj-ea"/>
              <a:cs typeface="+mj-cs"/>
            </a:endParaRPr>
          </a:p>
        </p:txBody>
      </p:sp>
      <p:sp>
        <p:nvSpPr>
          <p:cNvPr id="5" name="Rectangle 3080"/>
          <p:cNvSpPr>
            <a:spLocks noChangeArrowheads="1"/>
          </p:cNvSpPr>
          <p:nvPr/>
        </p:nvSpPr>
        <p:spPr bwMode="auto">
          <a:xfrm>
            <a:off x="5334000" y="3657600"/>
            <a:ext cx="990600" cy="25908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6" name="Rectangle 3081"/>
          <p:cNvSpPr>
            <a:spLocks noChangeArrowheads="1"/>
          </p:cNvSpPr>
          <p:nvPr/>
        </p:nvSpPr>
        <p:spPr bwMode="auto">
          <a:xfrm>
            <a:off x="3429000" y="1066800"/>
            <a:ext cx="5486400" cy="5486400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7" name="Rectangle 3082"/>
          <p:cNvSpPr>
            <a:spLocks noChangeArrowheads="1"/>
          </p:cNvSpPr>
          <p:nvPr/>
        </p:nvSpPr>
        <p:spPr bwMode="auto">
          <a:xfrm>
            <a:off x="5334000" y="1219200"/>
            <a:ext cx="990600" cy="5029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8" name="Rectangle 3083"/>
          <p:cNvSpPr>
            <a:spLocks noChangeArrowheads="1"/>
          </p:cNvSpPr>
          <p:nvPr/>
        </p:nvSpPr>
        <p:spPr bwMode="auto">
          <a:xfrm>
            <a:off x="5638800" y="1219200"/>
            <a:ext cx="304800" cy="472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grpSp>
        <p:nvGrpSpPr>
          <p:cNvPr id="9" name="Group 3084"/>
          <p:cNvGrpSpPr>
            <a:grpSpLocks/>
          </p:cNvGrpSpPr>
          <p:nvPr/>
        </p:nvGrpSpPr>
        <p:grpSpPr bwMode="auto">
          <a:xfrm>
            <a:off x="4633913" y="1219200"/>
            <a:ext cx="152400" cy="5029200"/>
            <a:chOff x="2832" y="768"/>
            <a:chExt cx="96" cy="3168"/>
          </a:xfrm>
        </p:grpSpPr>
        <p:sp>
          <p:nvSpPr>
            <p:cNvPr id="10" name="Line 3085"/>
            <p:cNvSpPr>
              <a:spLocks noChangeShapeType="1"/>
            </p:cNvSpPr>
            <p:nvPr/>
          </p:nvSpPr>
          <p:spPr bwMode="auto">
            <a:xfrm>
              <a:off x="2880" y="768"/>
              <a:ext cx="0" cy="3168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1" name="Line 3086"/>
            <p:cNvSpPr>
              <a:spLocks noChangeShapeType="1"/>
            </p:cNvSpPr>
            <p:nvPr/>
          </p:nvSpPr>
          <p:spPr bwMode="auto">
            <a:xfrm>
              <a:off x="2832" y="76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2" name="Line 3087"/>
            <p:cNvSpPr>
              <a:spLocks noChangeShapeType="1"/>
            </p:cNvSpPr>
            <p:nvPr/>
          </p:nvSpPr>
          <p:spPr bwMode="auto">
            <a:xfrm>
              <a:off x="2832" y="115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3" name="Line 3088"/>
            <p:cNvSpPr>
              <a:spLocks noChangeShapeType="1"/>
            </p:cNvSpPr>
            <p:nvPr/>
          </p:nvSpPr>
          <p:spPr bwMode="auto">
            <a:xfrm>
              <a:off x="2832" y="154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4" name="Line 3089"/>
            <p:cNvSpPr>
              <a:spLocks noChangeShapeType="1"/>
            </p:cNvSpPr>
            <p:nvPr/>
          </p:nvSpPr>
          <p:spPr bwMode="auto">
            <a:xfrm>
              <a:off x="2832" y="193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5" name="Line 3090"/>
            <p:cNvSpPr>
              <a:spLocks noChangeShapeType="1"/>
            </p:cNvSpPr>
            <p:nvPr/>
          </p:nvSpPr>
          <p:spPr bwMode="auto">
            <a:xfrm>
              <a:off x="2832" y="232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6" name="Line 3091"/>
            <p:cNvSpPr>
              <a:spLocks noChangeShapeType="1"/>
            </p:cNvSpPr>
            <p:nvPr/>
          </p:nvSpPr>
          <p:spPr bwMode="auto">
            <a:xfrm>
              <a:off x="2832" y="271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7" name="Line 3092"/>
            <p:cNvSpPr>
              <a:spLocks noChangeShapeType="1"/>
            </p:cNvSpPr>
            <p:nvPr/>
          </p:nvSpPr>
          <p:spPr bwMode="auto">
            <a:xfrm>
              <a:off x="2832" y="310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8" name="Line 3093"/>
            <p:cNvSpPr>
              <a:spLocks noChangeShapeType="1"/>
            </p:cNvSpPr>
            <p:nvPr/>
          </p:nvSpPr>
          <p:spPr bwMode="auto">
            <a:xfrm>
              <a:off x="2832" y="349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9" name="Line 3094"/>
            <p:cNvSpPr>
              <a:spLocks noChangeShapeType="1"/>
            </p:cNvSpPr>
            <p:nvPr/>
          </p:nvSpPr>
          <p:spPr bwMode="auto">
            <a:xfrm>
              <a:off x="2832" y="388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20" name="Line 3095"/>
          <p:cNvSpPr>
            <a:spLocks noChangeShapeType="1"/>
          </p:cNvSpPr>
          <p:nvPr/>
        </p:nvSpPr>
        <p:spPr bwMode="auto">
          <a:xfrm>
            <a:off x="7086600" y="1219200"/>
            <a:ext cx="0" cy="5181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1" name="Line 3096"/>
          <p:cNvSpPr>
            <a:spLocks noChangeShapeType="1"/>
          </p:cNvSpPr>
          <p:nvPr/>
        </p:nvSpPr>
        <p:spPr bwMode="auto">
          <a:xfrm>
            <a:off x="7010400" y="1219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2" name="Line 3097"/>
          <p:cNvSpPr>
            <a:spLocks noChangeShapeType="1"/>
          </p:cNvSpPr>
          <p:nvPr/>
        </p:nvSpPr>
        <p:spPr bwMode="auto">
          <a:xfrm>
            <a:off x="7010400" y="18383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3" name="Line 3098"/>
          <p:cNvSpPr>
            <a:spLocks noChangeShapeType="1"/>
          </p:cNvSpPr>
          <p:nvPr/>
        </p:nvSpPr>
        <p:spPr bwMode="auto">
          <a:xfrm>
            <a:off x="7010400" y="24574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4" name="Line 3099"/>
          <p:cNvSpPr>
            <a:spLocks noChangeShapeType="1"/>
          </p:cNvSpPr>
          <p:nvPr/>
        </p:nvSpPr>
        <p:spPr bwMode="auto">
          <a:xfrm>
            <a:off x="7010400" y="30765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5" name="Line 3100"/>
          <p:cNvSpPr>
            <a:spLocks noChangeShapeType="1"/>
          </p:cNvSpPr>
          <p:nvPr/>
        </p:nvSpPr>
        <p:spPr bwMode="auto">
          <a:xfrm>
            <a:off x="7010400" y="36957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6" name="Line 3101"/>
          <p:cNvSpPr>
            <a:spLocks noChangeShapeType="1"/>
          </p:cNvSpPr>
          <p:nvPr/>
        </p:nvSpPr>
        <p:spPr bwMode="auto">
          <a:xfrm>
            <a:off x="7010400" y="43148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7" name="Line 3102"/>
          <p:cNvSpPr>
            <a:spLocks noChangeShapeType="1"/>
          </p:cNvSpPr>
          <p:nvPr/>
        </p:nvSpPr>
        <p:spPr bwMode="auto">
          <a:xfrm>
            <a:off x="7010400" y="49339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8" name="Line 3103"/>
          <p:cNvSpPr>
            <a:spLocks noChangeShapeType="1"/>
          </p:cNvSpPr>
          <p:nvPr/>
        </p:nvSpPr>
        <p:spPr bwMode="auto">
          <a:xfrm>
            <a:off x="7010400" y="55530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9" name="Line 3104"/>
          <p:cNvSpPr>
            <a:spLocks noChangeShapeType="1"/>
          </p:cNvSpPr>
          <p:nvPr/>
        </p:nvSpPr>
        <p:spPr bwMode="auto">
          <a:xfrm>
            <a:off x="7010400" y="6172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0" name="Text Box 3105"/>
          <p:cNvSpPr txBox="1">
            <a:spLocks noChangeArrowheads="1"/>
          </p:cNvSpPr>
          <p:nvPr/>
        </p:nvSpPr>
        <p:spPr bwMode="auto">
          <a:xfrm rot="5400000">
            <a:off x="2612232" y="3599656"/>
            <a:ext cx="2457450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Profundidad, ft.</a:t>
            </a:r>
          </a:p>
        </p:txBody>
      </p:sp>
      <p:sp>
        <p:nvSpPr>
          <p:cNvPr id="31" name="Text Box 3106"/>
          <p:cNvSpPr txBox="1">
            <a:spLocks noChangeArrowheads="1"/>
          </p:cNvSpPr>
          <p:nvPr/>
        </p:nvSpPr>
        <p:spPr bwMode="auto">
          <a:xfrm rot="5400000">
            <a:off x="5342732" y="3685381"/>
            <a:ext cx="2743200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Tiempo, segundos</a:t>
            </a:r>
          </a:p>
        </p:txBody>
      </p:sp>
      <p:sp>
        <p:nvSpPr>
          <p:cNvPr id="32" name="Line 3107"/>
          <p:cNvSpPr>
            <a:spLocks noChangeShapeType="1"/>
          </p:cNvSpPr>
          <p:nvPr/>
        </p:nvSpPr>
        <p:spPr bwMode="auto">
          <a:xfrm>
            <a:off x="7086600" y="1219200"/>
            <a:ext cx="1676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stealth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3" name="Text Box 3108"/>
          <p:cNvSpPr txBox="1">
            <a:spLocks noChangeArrowheads="1"/>
          </p:cNvSpPr>
          <p:nvPr/>
        </p:nvSpPr>
        <p:spPr bwMode="auto">
          <a:xfrm>
            <a:off x="37338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34" name="Text Box 3109"/>
          <p:cNvSpPr txBox="1">
            <a:spLocks noChangeArrowheads="1"/>
          </p:cNvSpPr>
          <p:nvPr/>
        </p:nvSpPr>
        <p:spPr bwMode="auto">
          <a:xfrm>
            <a:off x="3581400" y="1676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1000</a:t>
            </a:r>
          </a:p>
        </p:txBody>
      </p:sp>
      <p:sp>
        <p:nvSpPr>
          <p:cNvPr id="35" name="Text Box 3110"/>
          <p:cNvSpPr txBox="1">
            <a:spLocks noChangeArrowheads="1"/>
          </p:cNvSpPr>
          <p:nvPr/>
        </p:nvSpPr>
        <p:spPr bwMode="auto">
          <a:xfrm>
            <a:off x="3581400" y="2286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2000</a:t>
            </a:r>
          </a:p>
        </p:txBody>
      </p:sp>
      <p:sp>
        <p:nvSpPr>
          <p:cNvPr id="36" name="Text Box 3111"/>
          <p:cNvSpPr txBox="1">
            <a:spLocks noChangeArrowheads="1"/>
          </p:cNvSpPr>
          <p:nvPr/>
        </p:nvSpPr>
        <p:spPr bwMode="auto">
          <a:xfrm>
            <a:off x="3581400" y="2895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3000</a:t>
            </a:r>
          </a:p>
        </p:txBody>
      </p:sp>
      <p:sp>
        <p:nvSpPr>
          <p:cNvPr id="37" name="Text Box 3112"/>
          <p:cNvSpPr txBox="1">
            <a:spLocks noChangeArrowheads="1"/>
          </p:cNvSpPr>
          <p:nvPr/>
        </p:nvSpPr>
        <p:spPr bwMode="auto">
          <a:xfrm>
            <a:off x="3581400" y="35052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4000</a:t>
            </a:r>
          </a:p>
        </p:txBody>
      </p:sp>
      <p:sp>
        <p:nvSpPr>
          <p:cNvPr id="38" name="Text Box 3113"/>
          <p:cNvSpPr txBox="1">
            <a:spLocks noChangeArrowheads="1"/>
          </p:cNvSpPr>
          <p:nvPr/>
        </p:nvSpPr>
        <p:spPr bwMode="auto">
          <a:xfrm>
            <a:off x="3581400" y="41148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5000</a:t>
            </a:r>
          </a:p>
        </p:txBody>
      </p:sp>
      <p:sp>
        <p:nvSpPr>
          <p:cNvPr id="39" name="Text Box 3114"/>
          <p:cNvSpPr txBox="1">
            <a:spLocks noChangeArrowheads="1"/>
          </p:cNvSpPr>
          <p:nvPr/>
        </p:nvSpPr>
        <p:spPr bwMode="auto">
          <a:xfrm>
            <a:off x="3581400" y="4724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6000</a:t>
            </a:r>
          </a:p>
        </p:txBody>
      </p:sp>
      <p:sp>
        <p:nvSpPr>
          <p:cNvPr id="40" name="Text Box 3115"/>
          <p:cNvSpPr txBox="1">
            <a:spLocks noChangeArrowheads="1"/>
          </p:cNvSpPr>
          <p:nvPr/>
        </p:nvSpPr>
        <p:spPr bwMode="auto">
          <a:xfrm>
            <a:off x="3581400" y="5334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7000</a:t>
            </a:r>
          </a:p>
        </p:txBody>
      </p:sp>
      <p:sp>
        <p:nvSpPr>
          <p:cNvPr id="41" name="Text Box 3116"/>
          <p:cNvSpPr txBox="1">
            <a:spLocks noChangeArrowheads="1"/>
          </p:cNvSpPr>
          <p:nvPr/>
        </p:nvSpPr>
        <p:spPr bwMode="auto">
          <a:xfrm>
            <a:off x="3581400" y="5943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8000</a:t>
            </a:r>
          </a:p>
        </p:txBody>
      </p:sp>
      <p:sp>
        <p:nvSpPr>
          <p:cNvPr id="42" name="Freeform 3117"/>
          <p:cNvSpPr>
            <a:spLocks/>
          </p:cNvSpPr>
          <p:nvPr/>
        </p:nvSpPr>
        <p:spPr bwMode="auto">
          <a:xfrm>
            <a:off x="7620000" y="1104900"/>
            <a:ext cx="850900" cy="342900"/>
          </a:xfrm>
          <a:custGeom>
            <a:avLst/>
            <a:gdLst>
              <a:gd name="T0" fmla="*/ 328 w 536"/>
              <a:gd name="T1" fmla="*/ 0 h 216"/>
              <a:gd name="T2" fmla="*/ 328 w 536"/>
              <a:gd name="T3" fmla="*/ 56 h 216"/>
              <a:gd name="T4" fmla="*/ 0 w 536"/>
              <a:gd name="T5" fmla="*/ 120 h 216"/>
              <a:gd name="T6" fmla="*/ 536 w 536"/>
              <a:gd name="T7" fmla="*/ 168 h 216"/>
              <a:gd name="T8" fmla="*/ 336 w 536"/>
              <a:gd name="T9" fmla="*/ 216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6"/>
              <a:gd name="T16" fmla="*/ 0 h 216"/>
              <a:gd name="T17" fmla="*/ 536 w 53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6" h="216">
                <a:moveTo>
                  <a:pt x="328" y="0"/>
                </a:moveTo>
                <a:cubicBezTo>
                  <a:pt x="328" y="19"/>
                  <a:pt x="328" y="37"/>
                  <a:pt x="328" y="56"/>
                </a:cubicBezTo>
                <a:lnTo>
                  <a:pt x="0" y="120"/>
                </a:lnTo>
                <a:lnTo>
                  <a:pt x="536" y="168"/>
                </a:lnTo>
                <a:lnTo>
                  <a:pt x="336" y="21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43" name="Text Box 3118"/>
          <p:cNvSpPr txBox="1">
            <a:spLocks noChangeArrowheads="1"/>
          </p:cNvSpPr>
          <p:nvPr/>
        </p:nvSpPr>
        <p:spPr bwMode="auto">
          <a:xfrm>
            <a:off x="62484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44" name="Rectangle 3137"/>
          <p:cNvSpPr>
            <a:spLocks noChangeArrowheads="1"/>
          </p:cNvSpPr>
          <p:nvPr/>
        </p:nvSpPr>
        <p:spPr bwMode="auto">
          <a:xfrm>
            <a:off x="5334000" y="3048000"/>
            <a:ext cx="152400" cy="32004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45" name="Rectangle 3138"/>
          <p:cNvSpPr>
            <a:spLocks noChangeArrowheads="1"/>
          </p:cNvSpPr>
          <p:nvPr/>
        </p:nvSpPr>
        <p:spPr bwMode="auto">
          <a:xfrm>
            <a:off x="6172200" y="3048000"/>
            <a:ext cx="152400" cy="32004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grpSp>
        <p:nvGrpSpPr>
          <p:cNvPr id="46" name="Group 3119"/>
          <p:cNvGrpSpPr>
            <a:grpSpLocks/>
          </p:cNvGrpSpPr>
          <p:nvPr/>
        </p:nvGrpSpPr>
        <p:grpSpPr bwMode="auto">
          <a:xfrm>
            <a:off x="5257800" y="4267200"/>
            <a:ext cx="228600" cy="152400"/>
            <a:chOff x="3312" y="2640"/>
            <a:chExt cx="96" cy="96"/>
          </a:xfrm>
        </p:grpSpPr>
        <p:sp>
          <p:nvSpPr>
            <p:cNvPr id="47" name="Line 3120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8" name="Line 3121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9" name="Line 3122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0" name="Group 3123"/>
          <p:cNvGrpSpPr>
            <a:grpSpLocks/>
          </p:cNvGrpSpPr>
          <p:nvPr/>
        </p:nvGrpSpPr>
        <p:grpSpPr bwMode="auto">
          <a:xfrm>
            <a:off x="5257800" y="5486400"/>
            <a:ext cx="228600" cy="152400"/>
            <a:chOff x="3312" y="2640"/>
            <a:chExt cx="96" cy="96"/>
          </a:xfrm>
        </p:grpSpPr>
        <p:sp>
          <p:nvSpPr>
            <p:cNvPr id="51" name="Line 3124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2" name="Line 3125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3" name="Line 3126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4" name="Group 3127"/>
          <p:cNvGrpSpPr>
            <a:grpSpLocks/>
          </p:cNvGrpSpPr>
          <p:nvPr/>
        </p:nvGrpSpPr>
        <p:grpSpPr bwMode="auto">
          <a:xfrm>
            <a:off x="6172200" y="4267200"/>
            <a:ext cx="228600" cy="152400"/>
            <a:chOff x="3312" y="2640"/>
            <a:chExt cx="96" cy="96"/>
          </a:xfrm>
        </p:grpSpPr>
        <p:sp>
          <p:nvSpPr>
            <p:cNvPr id="55" name="Line 3128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6" name="Line 3129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7" name="Line 3130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8" name="Group 3139"/>
          <p:cNvGrpSpPr>
            <a:grpSpLocks/>
          </p:cNvGrpSpPr>
          <p:nvPr/>
        </p:nvGrpSpPr>
        <p:grpSpPr bwMode="auto">
          <a:xfrm>
            <a:off x="6172200" y="5486400"/>
            <a:ext cx="228600" cy="152400"/>
            <a:chOff x="3312" y="2640"/>
            <a:chExt cx="96" cy="96"/>
          </a:xfrm>
        </p:grpSpPr>
        <p:sp>
          <p:nvSpPr>
            <p:cNvPr id="59" name="Line 3140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60" name="Line 3141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61" name="Line 3142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62" name="Text Box 3144"/>
          <p:cNvSpPr txBox="1">
            <a:spLocks noChangeArrowheads="1"/>
          </p:cNvSpPr>
          <p:nvPr/>
        </p:nvSpPr>
        <p:spPr bwMode="auto">
          <a:xfrm>
            <a:off x="285720" y="3286124"/>
            <a:ext cx="2590800" cy="86177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s-VE" sz="2000" dirty="0" smtClean="0">
                <a:cs typeface="+mn-cs"/>
              </a:rPr>
              <a:t>Velocidad Acústica</a:t>
            </a:r>
          </a:p>
          <a:p>
            <a:pPr marL="457200" fontAlgn="auto">
              <a:spcBef>
                <a:spcPct val="5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s-VE" sz="2000" dirty="0" smtClean="0">
                <a:cs typeface="+mn-cs"/>
              </a:rPr>
              <a:t> = 1000 ft/</a:t>
            </a:r>
            <a:r>
              <a:rPr lang="es-VE" sz="2000" dirty="0" err="1" smtClean="0">
                <a:cs typeface="+mn-cs"/>
              </a:rPr>
              <a:t>sec</a:t>
            </a:r>
            <a:endParaRPr lang="es-VE" sz="2000" dirty="0">
              <a:cs typeface="+mn-cs"/>
            </a:endParaRPr>
          </a:p>
        </p:txBody>
      </p:sp>
      <p:sp>
        <p:nvSpPr>
          <p:cNvPr id="63" name="Rectangle 5"/>
          <p:cNvSpPr>
            <a:spLocks noChangeArrowheads="1"/>
          </p:cNvSpPr>
          <p:nvPr/>
        </p:nvSpPr>
        <p:spPr bwMode="auto">
          <a:xfrm>
            <a:off x="152400" y="500042"/>
            <a:ext cx="320516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400" dirty="0" smtClean="0">
                <a:cs typeface="+mn-cs"/>
              </a:rPr>
              <a:t>Dibuje la respuesta acústica de los cambios de área en el pozo e indique en la escala su tiempo de viaje (RTTT).</a:t>
            </a:r>
            <a:endParaRPr lang="es-VE" sz="2400" dirty="0">
              <a:cs typeface="+mn-cs"/>
            </a:endParaRPr>
          </a:p>
        </p:txBody>
      </p:sp>
      <p:sp>
        <p:nvSpPr>
          <p:cNvPr id="64" name="Rectangle 6"/>
          <p:cNvSpPr>
            <a:spLocks noChangeArrowheads="1"/>
          </p:cNvSpPr>
          <p:nvPr/>
        </p:nvSpPr>
        <p:spPr bwMode="auto">
          <a:xfrm>
            <a:off x="4067196" y="571480"/>
            <a:ext cx="4148142" cy="500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rPr>
              <a:t>Pulso de Explosión</a:t>
            </a:r>
            <a:endParaRPr lang="es-VE" sz="24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27" descr="Echome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9680" y="0"/>
            <a:ext cx="1784320" cy="350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5334000" y="3657600"/>
            <a:ext cx="990600" cy="25908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429000" y="1066800"/>
            <a:ext cx="5486400" cy="5486400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5334000" y="1219200"/>
            <a:ext cx="990600" cy="5029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638800" y="1219200"/>
            <a:ext cx="304800" cy="472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4633913" y="1219200"/>
            <a:ext cx="152400" cy="5029200"/>
            <a:chOff x="2832" y="768"/>
            <a:chExt cx="96" cy="3168"/>
          </a:xfrm>
        </p:grpSpPr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880" y="768"/>
              <a:ext cx="0" cy="3168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832" y="76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2832" y="115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832" y="154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832" y="193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2832" y="232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832" y="271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2832" y="310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2832" y="349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2832" y="388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7086600" y="1219200"/>
            <a:ext cx="0" cy="5181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7010400" y="1219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>
            <a:off x="7010400" y="18383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>
            <a:off x="7010400" y="24574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7010400" y="30765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>
            <a:off x="7010400" y="36957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>
            <a:off x="7010400" y="43148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>
            <a:off x="7010400" y="49339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>
            <a:off x="7010400" y="55530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>
            <a:off x="7010400" y="6172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>
            <a:off x="7086600" y="1219200"/>
            <a:ext cx="1676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stealth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0" name="Text Box 32"/>
          <p:cNvSpPr txBox="1">
            <a:spLocks noChangeArrowheads="1"/>
          </p:cNvSpPr>
          <p:nvPr/>
        </p:nvSpPr>
        <p:spPr bwMode="auto">
          <a:xfrm>
            <a:off x="37338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31" name="Text Box 33"/>
          <p:cNvSpPr txBox="1">
            <a:spLocks noChangeArrowheads="1"/>
          </p:cNvSpPr>
          <p:nvPr/>
        </p:nvSpPr>
        <p:spPr bwMode="auto">
          <a:xfrm>
            <a:off x="3581400" y="1676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1000</a:t>
            </a:r>
          </a:p>
        </p:txBody>
      </p:sp>
      <p:sp>
        <p:nvSpPr>
          <p:cNvPr id="32" name="Text Box 34"/>
          <p:cNvSpPr txBox="1">
            <a:spLocks noChangeArrowheads="1"/>
          </p:cNvSpPr>
          <p:nvPr/>
        </p:nvSpPr>
        <p:spPr bwMode="auto">
          <a:xfrm>
            <a:off x="3581400" y="2286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2000</a:t>
            </a:r>
          </a:p>
        </p:txBody>
      </p:sp>
      <p:sp>
        <p:nvSpPr>
          <p:cNvPr id="33" name="Text Box 35"/>
          <p:cNvSpPr txBox="1">
            <a:spLocks noChangeArrowheads="1"/>
          </p:cNvSpPr>
          <p:nvPr/>
        </p:nvSpPr>
        <p:spPr bwMode="auto">
          <a:xfrm>
            <a:off x="3581400" y="2895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3000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3581400" y="35052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4000</a:t>
            </a:r>
          </a:p>
        </p:txBody>
      </p:sp>
      <p:sp>
        <p:nvSpPr>
          <p:cNvPr id="35" name="Text Box 37"/>
          <p:cNvSpPr txBox="1">
            <a:spLocks noChangeArrowheads="1"/>
          </p:cNvSpPr>
          <p:nvPr/>
        </p:nvSpPr>
        <p:spPr bwMode="auto">
          <a:xfrm>
            <a:off x="3581400" y="41148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5000</a:t>
            </a:r>
          </a:p>
        </p:txBody>
      </p:sp>
      <p:sp>
        <p:nvSpPr>
          <p:cNvPr id="36" name="Text Box 38"/>
          <p:cNvSpPr txBox="1">
            <a:spLocks noChangeArrowheads="1"/>
          </p:cNvSpPr>
          <p:nvPr/>
        </p:nvSpPr>
        <p:spPr bwMode="auto">
          <a:xfrm>
            <a:off x="3581400" y="4724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6000</a:t>
            </a:r>
          </a:p>
        </p:txBody>
      </p:sp>
      <p:sp>
        <p:nvSpPr>
          <p:cNvPr id="37" name="Text Box 39"/>
          <p:cNvSpPr txBox="1">
            <a:spLocks noChangeArrowheads="1"/>
          </p:cNvSpPr>
          <p:nvPr/>
        </p:nvSpPr>
        <p:spPr bwMode="auto">
          <a:xfrm>
            <a:off x="3581400" y="5334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7000</a:t>
            </a:r>
          </a:p>
        </p:txBody>
      </p:sp>
      <p:sp>
        <p:nvSpPr>
          <p:cNvPr id="38" name="Text Box 40"/>
          <p:cNvSpPr txBox="1">
            <a:spLocks noChangeArrowheads="1"/>
          </p:cNvSpPr>
          <p:nvPr/>
        </p:nvSpPr>
        <p:spPr bwMode="auto">
          <a:xfrm>
            <a:off x="3581400" y="5943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8000</a:t>
            </a:r>
          </a:p>
        </p:txBody>
      </p:sp>
      <p:sp>
        <p:nvSpPr>
          <p:cNvPr id="39" name="Freeform 41"/>
          <p:cNvSpPr>
            <a:spLocks/>
          </p:cNvSpPr>
          <p:nvPr/>
        </p:nvSpPr>
        <p:spPr bwMode="auto">
          <a:xfrm>
            <a:off x="7302500" y="1104900"/>
            <a:ext cx="1358900" cy="342900"/>
          </a:xfrm>
          <a:custGeom>
            <a:avLst/>
            <a:gdLst>
              <a:gd name="T0" fmla="*/ 528 w 856"/>
              <a:gd name="T1" fmla="*/ 0 h 216"/>
              <a:gd name="T2" fmla="*/ 528 w 856"/>
              <a:gd name="T3" fmla="*/ 56 h 216"/>
              <a:gd name="T4" fmla="*/ 0 w 856"/>
              <a:gd name="T5" fmla="*/ 124 h 216"/>
              <a:gd name="T6" fmla="*/ 856 w 856"/>
              <a:gd name="T7" fmla="*/ 168 h 216"/>
              <a:gd name="T8" fmla="*/ 536 w 856"/>
              <a:gd name="T9" fmla="*/ 216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56"/>
              <a:gd name="T16" fmla="*/ 0 h 216"/>
              <a:gd name="T17" fmla="*/ 856 w 85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56" h="216">
                <a:moveTo>
                  <a:pt x="528" y="0"/>
                </a:moveTo>
                <a:cubicBezTo>
                  <a:pt x="528" y="19"/>
                  <a:pt x="528" y="37"/>
                  <a:pt x="528" y="56"/>
                </a:cubicBezTo>
                <a:lnTo>
                  <a:pt x="0" y="124"/>
                </a:lnTo>
                <a:lnTo>
                  <a:pt x="856" y="168"/>
                </a:lnTo>
                <a:lnTo>
                  <a:pt x="536" y="21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40" name="Text Box 42"/>
          <p:cNvSpPr txBox="1">
            <a:spLocks noChangeArrowheads="1"/>
          </p:cNvSpPr>
          <p:nvPr/>
        </p:nvSpPr>
        <p:spPr bwMode="auto">
          <a:xfrm>
            <a:off x="62484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41" name="Rectangle 43"/>
          <p:cNvSpPr>
            <a:spLocks noChangeArrowheads="1"/>
          </p:cNvSpPr>
          <p:nvPr/>
        </p:nvSpPr>
        <p:spPr bwMode="auto">
          <a:xfrm>
            <a:off x="5334000" y="3048000"/>
            <a:ext cx="152400" cy="32004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42" name="Rectangle 44"/>
          <p:cNvSpPr>
            <a:spLocks noChangeArrowheads="1"/>
          </p:cNvSpPr>
          <p:nvPr/>
        </p:nvSpPr>
        <p:spPr bwMode="auto">
          <a:xfrm>
            <a:off x="6172200" y="3048000"/>
            <a:ext cx="152400" cy="32004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grpSp>
        <p:nvGrpSpPr>
          <p:cNvPr id="43" name="Group 45"/>
          <p:cNvGrpSpPr>
            <a:grpSpLocks/>
          </p:cNvGrpSpPr>
          <p:nvPr/>
        </p:nvGrpSpPr>
        <p:grpSpPr bwMode="auto">
          <a:xfrm>
            <a:off x="5257800" y="4267200"/>
            <a:ext cx="228600" cy="152400"/>
            <a:chOff x="3312" y="2640"/>
            <a:chExt cx="96" cy="96"/>
          </a:xfrm>
        </p:grpSpPr>
        <p:sp>
          <p:nvSpPr>
            <p:cNvPr id="44" name="Line 46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VE">
                <a:ln>
                  <a:solidFill>
                    <a:sysClr val="windowText" lastClr="000000"/>
                  </a:solidFill>
                </a:ln>
                <a:latin typeface="+mn-lt"/>
                <a:cs typeface="+mn-cs"/>
              </a:endParaRPr>
            </a:p>
          </p:txBody>
        </p:sp>
        <p:sp>
          <p:nvSpPr>
            <p:cNvPr id="45" name="Line 47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VE">
                <a:ln>
                  <a:solidFill>
                    <a:sysClr val="windowText" lastClr="000000"/>
                  </a:solidFill>
                </a:ln>
                <a:latin typeface="+mn-lt"/>
                <a:cs typeface="+mn-cs"/>
              </a:endParaRPr>
            </a:p>
          </p:txBody>
        </p:sp>
        <p:sp>
          <p:nvSpPr>
            <p:cNvPr id="46" name="Line 48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VE">
                <a:ln>
                  <a:solidFill>
                    <a:sysClr val="windowText" lastClr="000000"/>
                  </a:solidFill>
                </a:ln>
                <a:latin typeface="+mn-lt"/>
                <a:cs typeface="+mn-cs"/>
              </a:endParaRPr>
            </a:p>
          </p:txBody>
        </p:sp>
      </p:grpSp>
      <p:grpSp>
        <p:nvGrpSpPr>
          <p:cNvPr id="47" name="Group 49"/>
          <p:cNvGrpSpPr>
            <a:grpSpLocks/>
          </p:cNvGrpSpPr>
          <p:nvPr/>
        </p:nvGrpSpPr>
        <p:grpSpPr bwMode="auto">
          <a:xfrm>
            <a:off x="5257800" y="5486400"/>
            <a:ext cx="228600" cy="152400"/>
            <a:chOff x="3312" y="2640"/>
            <a:chExt cx="96" cy="96"/>
          </a:xfrm>
        </p:grpSpPr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VE">
                <a:ln>
                  <a:solidFill>
                    <a:sysClr val="windowText" lastClr="000000"/>
                  </a:solidFill>
                </a:ln>
                <a:latin typeface="+mn-lt"/>
                <a:cs typeface="+mn-cs"/>
              </a:endParaRPr>
            </a:p>
          </p:txBody>
        </p:sp>
        <p:sp>
          <p:nvSpPr>
            <p:cNvPr id="49" name="Line 51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VE">
                <a:ln>
                  <a:solidFill>
                    <a:sysClr val="windowText" lastClr="000000"/>
                  </a:solidFill>
                </a:ln>
                <a:latin typeface="+mn-lt"/>
                <a:cs typeface="+mn-cs"/>
              </a:endParaRPr>
            </a:p>
          </p:txBody>
        </p:sp>
        <p:sp>
          <p:nvSpPr>
            <p:cNvPr id="50" name="Line 52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VE">
                <a:ln>
                  <a:solidFill>
                    <a:sysClr val="windowText" lastClr="000000"/>
                  </a:solidFill>
                </a:ln>
                <a:latin typeface="+mn-lt"/>
                <a:cs typeface="+mn-cs"/>
              </a:endParaRPr>
            </a:p>
          </p:txBody>
        </p:sp>
      </p:grpSp>
      <p:grpSp>
        <p:nvGrpSpPr>
          <p:cNvPr id="51" name="Group 53"/>
          <p:cNvGrpSpPr>
            <a:grpSpLocks/>
          </p:cNvGrpSpPr>
          <p:nvPr/>
        </p:nvGrpSpPr>
        <p:grpSpPr bwMode="auto">
          <a:xfrm>
            <a:off x="6172200" y="4267200"/>
            <a:ext cx="228600" cy="152400"/>
            <a:chOff x="3312" y="2640"/>
            <a:chExt cx="96" cy="96"/>
          </a:xfrm>
        </p:grpSpPr>
        <p:sp>
          <p:nvSpPr>
            <p:cNvPr id="52" name="Line 54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VE">
                <a:ln>
                  <a:solidFill>
                    <a:sysClr val="windowText" lastClr="000000"/>
                  </a:solidFill>
                </a:ln>
                <a:latin typeface="+mn-lt"/>
                <a:cs typeface="+mn-cs"/>
              </a:endParaRPr>
            </a:p>
          </p:txBody>
        </p:sp>
        <p:sp>
          <p:nvSpPr>
            <p:cNvPr id="53" name="Line 55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VE">
                <a:ln>
                  <a:solidFill>
                    <a:sysClr val="windowText" lastClr="000000"/>
                  </a:solidFill>
                </a:ln>
                <a:latin typeface="+mn-lt"/>
                <a:cs typeface="+mn-cs"/>
              </a:endParaRPr>
            </a:p>
          </p:txBody>
        </p:sp>
        <p:sp>
          <p:nvSpPr>
            <p:cNvPr id="54" name="Line 56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VE">
                <a:ln>
                  <a:solidFill>
                    <a:sysClr val="windowText" lastClr="000000"/>
                  </a:solidFill>
                </a:ln>
                <a:latin typeface="+mn-lt"/>
                <a:cs typeface="+mn-cs"/>
              </a:endParaRPr>
            </a:p>
          </p:txBody>
        </p:sp>
      </p:grpSp>
      <p:grpSp>
        <p:nvGrpSpPr>
          <p:cNvPr id="55" name="Group 57"/>
          <p:cNvGrpSpPr>
            <a:grpSpLocks/>
          </p:cNvGrpSpPr>
          <p:nvPr/>
        </p:nvGrpSpPr>
        <p:grpSpPr bwMode="auto">
          <a:xfrm>
            <a:off x="6172200" y="5486400"/>
            <a:ext cx="228600" cy="152400"/>
            <a:chOff x="3312" y="2640"/>
            <a:chExt cx="96" cy="96"/>
          </a:xfrm>
        </p:grpSpPr>
        <p:sp>
          <p:nvSpPr>
            <p:cNvPr id="56" name="Line 58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VE">
                <a:ln>
                  <a:solidFill>
                    <a:sysClr val="windowText" lastClr="000000"/>
                  </a:solidFill>
                </a:ln>
                <a:latin typeface="+mn-lt"/>
                <a:cs typeface="+mn-cs"/>
              </a:endParaRPr>
            </a:p>
          </p:txBody>
        </p:sp>
        <p:sp>
          <p:nvSpPr>
            <p:cNvPr id="57" name="Line 59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VE">
                <a:ln>
                  <a:solidFill>
                    <a:sysClr val="windowText" lastClr="000000"/>
                  </a:solidFill>
                </a:ln>
                <a:latin typeface="+mn-lt"/>
                <a:cs typeface="+mn-cs"/>
              </a:endParaRPr>
            </a:p>
          </p:txBody>
        </p:sp>
        <p:sp>
          <p:nvSpPr>
            <p:cNvPr id="58" name="Line 60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VE">
                <a:ln>
                  <a:solidFill>
                    <a:sysClr val="windowText" lastClr="000000"/>
                  </a:solidFill>
                </a:ln>
                <a:latin typeface="+mn-lt"/>
                <a:cs typeface="+mn-cs"/>
              </a:endParaRPr>
            </a:p>
          </p:txBody>
        </p:sp>
      </p:grpSp>
      <p:sp>
        <p:nvSpPr>
          <p:cNvPr id="59" name="Rectangle 62"/>
          <p:cNvSpPr>
            <a:spLocks noChangeArrowheads="1"/>
          </p:cNvSpPr>
          <p:nvPr/>
        </p:nvSpPr>
        <p:spPr bwMode="auto">
          <a:xfrm>
            <a:off x="0" y="571480"/>
            <a:ext cx="3571868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Respuesta Acústica para Nivel de Líquido dentro del </a:t>
            </a:r>
            <a:r>
              <a:rPr lang="es-VE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liner</a:t>
            </a:r>
            <a:r>
              <a:rPr lang="es-VE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VE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Freeform 66"/>
          <p:cNvSpPr>
            <a:spLocks/>
          </p:cNvSpPr>
          <p:nvPr/>
        </p:nvSpPr>
        <p:spPr bwMode="auto">
          <a:xfrm>
            <a:off x="7575550" y="1447800"/>
            <a:ext cx="882650" cy="4724400"/>
          </a:xfrm>
          <a:custGeom>
            <a:avLst/>
            <a:gdLst>
              <a:gd name="T0" fmla="*/ 364 w 556"/>
              <a:gd name="T1" fmla="*/ 0 h 2976"/>
              <a:gd name="T2" fmla="*/ 364 w 556"/>
              <a:gd name="T3" fmla="*/ 1008 h 2976"/>
              <a:gd name="T4" fmla="*/ 0 w 556"/>
              <a:gd name="T5" fmla="*/ 1056 h 2976"/>
              <a:gd name="T6" fmla="*/ 508 w 556"/>
              <a:gd name="T7" fmla="*/ 1056 h 2976"/>
              <a:gd name="T8" fmla="*/ 364 w 556"/>
              <a:gd name="T9" fmla="*/ 1104 h 2976"/>
              <a:gd name="T10" fmla="*/ 364 w 556"/>
              <a:gd name="T11" fmla="*/ 1344 h 2976"/>
              <a:gd name="T12" fmla="*/ 216 w 556"/>
              <a:gd name="T13" fmla="*/ 1392 h 2976"/>
              <a:gd name="T14" fmla="*/ 496 w 556"/>
              <a:gd name="T15" fmla="*/ 1380 h 2976"/>
              <a:gd name="T16" fmla="*/ 364 w 556"/>
              <a:gd name="T17" fmla="*/ 1440 h 2976"/>
              <a:gd name="T18" fmla="*/ 364 w 556"/>
              <a:gd name="T19" fmla="*/ 1776 h 2976"/>
              <a:gd name="T20" fmla="*/ 556 w 556"/>
              <a:gd name="T21" fmla="*/ 1812 h 2976"/>
              <a:gd name="T22" fmla="*/ 156 w 556"/>
              <a:gd name="T23" fmla="*/ 1828 h 2976"/>
              <a:gd name="T24" fmla="*/ 364 w 556"/>
              <a:gd name="T25" fmla="*/ 1872 h 2976"/>
              <a:gd name="T26" fmla="*/ 364 w 556"/>
              <a:gd name="T27" fmla="*/ 2160 h 2976"/>
              <a:gd name="T28" fmla="*/ 192 w 556"/>
              <a:gd name="T29" fmla="*/ 2176 h 2976"/>
              <a:gd name="T30" fmla="*/ 496 w 556"/>
              <a:gd name="T31" fmla="*/ 2200 h 2976"/>
              <a:gd name="T32" fmla="*/ 368 w 556"/>
              <a:gd name="T33" fmla="*/ 2244 h 2976"/>
              <a:gd name="T34" fmla="*/ 368 w 556"/>
              <a:gd name="T35" fmla="*/ 2620 h 2976"/>
              <a:gd name="T36" fmla="*/ 248 w 556"/>
              <a:gd name="T37" fmla="*/ 2652 h 2976"/>
              <a:gd name="T38" fmla="*/ 464 w 556"/>
              <a:gd name="T39" fmla="*/ 2672 h 2976"/>
              <a:gd name="T40" fmla="*/ 372 w 556"/>
              <a:gd name="T41" fmla="*/ 2708 h 2976"/>
              <a:gd name="T42" fmla="*/ 364 w 556"/>
              <a:gd name="T43" fmla="*/ 2976 h 297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556"/>
              <a:gd name="T67" fmla="*/ 0 h 2976"/>
              <a:gd name="T68" fmla="*/ 556 w 556"/>
              <a:gd name="T69" fmla="*/ 2976 h 297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556" h="2976">
                <a:moveTo>
                  <a:pt x="364" y="0"/>
                </a:moveTo>
                <a:lnTo>
                  <a:pt x="364" y="1008"/>
                </a:lnTo>
                <a:lnTo>
                  <a:pt x="0" y="1056"/>
                </a:lnTo>
                <a:lnTo>
                  <a:pt x="508" y="1056"/>
                </a:lnTo>
                <a:lnTo>
                  <a:pt x="364" y="1104"/>
                </a:lnTo>
                <a:lnTo>
                  <a:pt x="364" y="1344"/>
                </a:lnTo>
                <a:lnTo>
                  <a:pt x="216" y="1392"/>
                </a:lnTo>
                <a:lnTo>
                  <a:pt x="496" y="1380"/>
                </a:lnTo>
                <a:lnTo>
                  <a:pt x="364" y="1440"/>
                </a:lnTo>
                <a:lnTo>
                  <a:pt x="364" y="1776"/>
                </a:lnTo>
                <a:lnTo>
                  <a:pt x="556" y="1812"/>
                </a:lnTo>
                <a:lnTo>
                  <a:pt x="156" y="1828"/>
                </a:lnTo>
                <a:lnTo>
                  <a:pt x="364" y="1872"/>
                </a:lnTo>
                <a:lnTo>
                  <a:pt x="364" y="2160"/>
                </a:lnTo>
                <a:lnTo>
                  <a:pt x="192" y="2176"/>
                </a:lnTo>
                <a:lnTo>
                  <a:pt x="496" y="2200"/>
                </a:lnTo>
                <a:lnTo>
                  <a:pt x="368" y="2244"/>
                </a:lnTo>
                <a:lnTo>
                  <a:pt x="368" y="2620"/>
                </a:lnTo>
                <a:lnTo>
                  <a:pt x="248" y="2652"/>
                </a:lnTo>
                <a:lnTo>
                  <a:pt x="464" y="2672"/>
                </a:lnTo>
                <a:lnTo>
                  <a:pt x="372" y="2708"/>
                </a:lnTo>
                <a:lnTo>
                  <a:pt x="364" y="2976"/>
                </a:lnTo>
              </a:path>
            </a:pathLst>
          </a:custGeom>
          <a:noFill/>
          <a:ln w="254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61" name="Text Box 67"/>
          <p:cNvSpPr txBox="1">
            <a:spLocks noChangeArrowheads="1"/>
          </p:cNvSpPr>
          <p:nvPr/>
        </p:nvSpPr>
        <p:spPr bwMode="auto">
          <a:xfrm>
            <a:off x="6629400" y="2895600"/>
            <a:ext cx="8382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6</a:t>
            </a:r>
          </a:p>
        </p:txBody>
      </p:sp>
      <p:sp>
        <p:nvSpPr>
          <p:cNvPr id="62" name="Text Box 68"/>
          <p:cNvSpPr txBox="1">
            <a:spLocks noChangeArrowheads="1"/>
          </p:cNvSpPr>
          <p:nvPr/>
        </p:nvSpPr>
        <p:spPr bwMode="auto">
          <a:xfrm>
            <a:off x="6629400" y="3505200"/>
            <a:ext cx="6858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8</a:t>
            </a:r>
          </a:p>
        </p:txBody>
      </p:sp>
      <p:sp>
        <p:nvSpPr>
          <p:cNvPr id="63" name="Text Box 69"/>
          <p:cNvSpPr txBox="1">
            <a:spLocks noChangeArrowheads="1"/>
          </p:cNvSpPr>
          <p:nvPr/>
        </p:nvSpPr>
        <p:spPr bwMode="auto">
          <a:xfrm>
            <a:off x="6629400" y="4114800"/>
            <a:ext cx="9906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10</a:t>
            </a:r>
          </a:p>
        </p:txBody>
      </p:sp>
      <p:sp>
        <p:nvSpPr>
          <p:cNvPr id="64" name="Text Box 70"/>
          <p:cNvSpPr txBox="1">
            <a:spLocks noChangeArrowheads="1"/>
          </p:cNvSpPr>
          <p:nvPr/>
        </p:nvSpPr>
        <p:spPr bwMode="auto">
          <a:xfrm>
            <a:off x="6629400" y="4800600"/>
            <a:ext cx="9906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12</a:t>
            </a:r>
          </a:p>
        </p:txBody>
      </p:sp>
      <p:sp>
        <p:nvSpPr>
          <p:cNvPr id="65" name="Text Box 71"/>
          <p:cNvSpPr txBox="1">
            <a:spLocks noChangeArrowheads="1"/>
          </p:cNvSpPr>
          <p:nvPr/>
        </p:nvSpPr>
        <p:spPr bwMode="auto">
          <a:xfrm>
            <a:off x="6629400" y="5410200"/>
            <a:ext cx="9906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dirty="0">
                <a:latin typeface="Calibri" pitchFamily="34" charset="0"/>
              </a:rPr>
              <a:t>14</a:t>
            </a:r>
          </a:p>
        </p:txBody>
      </p:sp>
      <p:sp>
        <p:nvSpPr>
          <p:cNvPr id="66" name="Text Box 72"/>
          <p:cNvSpPr txBox="1">
            <a:spLocks noChangeArrowheads="1"/>
          </p:cNvSpPr>
          <p:nvPr/>
        </p:nvSpPr>
        <p:spPr bwMode="auto">
          <a:xfrm>
            <a:off x="7924800" y="2971800"/>
            <a:ext cx="9906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Ln</a:t>
            </a:r>
          </a:p>
        </p:txBody>
      </p:sp>
      <p:sp>
        <p:nvSpPr>
          <p:cNvPr id="67" name="Text Box 73"/>
          <p:cNvSpPr txBox="1">
            <a:spLocks noChangeArrowheads="1"/>
          </p:cNvSpPr>
          <p:nvPr/>
        </p:nvSpPr>
        <p:spPr bwMode="auto">
          <a:xfrm>
            <a:off x="7924800" y="3505200"/>
            <a:ext cx="9906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Ll</a:t>
            </a:r>
          </a:p>
        </p:txBody>
      </p:sp>
      <p:sp>
        <p:nvSpPr>
          <p:cNvPr id="68" name="Text Box 74"/>
          <p:cNvSpPr txBox="1">
            <a:spLocks noChangeArrowheads="1"/>
          </p:cNvSpPr>
          <p:nvPr/>
        </p:nvSpPr>
        <p:spPr bwMode="auto">
          <a:xfrm>
            <a:off x="7924800" y="4114800"/>
            <a:ext cx="12192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LlLn</a:t>
            </a:r>
          </a:p>
        </p:txBody>
      </p:sp>
      <p:sp>
        <p:nvSpPr>
          <p:cNvPr id="69" name="Text Box 75"/>
          <p:cNvSpPr txBox="1">
            <a:spLocks noChangeArrowheads="1"/>
          </p:cNvSpPr>
          <p:nvPr/>
        </p:nvSpPr>
        <p:spPr bwMode="auto">
          <a:xfrm>
            <a:off x="7924800" y="4800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Ln</a:t>
            </a:r>
            <a:r>
              <a:rPr lang="en-US" baseline="-25000">
                <a:latin typeface="Calibri" pitchFamily="34" charset="0"/>
              </a:rPr>
              <a:t>1</a:t>
            </a:r>
          </a:p>
        </p:txBody>
      </p:sp>
      <p:sp>
        <p:nvSpPr>
          <p:cNvPr id="70" name="Text Box 77"/>
          <p:cNvSpPr txBox="1">
            <a:spLocks noChangeArrowheads="1"/>
          </p:cNvSpPr>
          <p:nvPr/>
        </p:nvSpPr>
        <p:spPr bwMode="auto">
          <a:xfrm>
            <a:off x="7696200" y="5257800"/>
            <a:ext cx="16002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LlLnLlLn</a:t>
            </a:r>
          </a:p>
        </p:txBody>
      </p:sp>
      <p:sp>
        <p:nvSpPr>
          <p:cNvPr id="71" name="Text Box 78"/>
          <p:cNvSpPr txBox="1">
            <a:spLocks noChangeArrowheads="1"/>
          </p:cNvSpPr>
          <p:nvPr/>
        </p:nvSpPr>
        <p:spPr bwMode="auto">
          <a:xfrm>
            <a:off x="46038" y="2262188"/>
            <a:ext cx="3333750" cy="424731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s-VE" smtClean="0"/>
              <a:t>El echo del liner tiene la máxima amplitud.</a:t>
            </a:r>
          </a:p>
          <a:p>
            <a:pPr>
              <a:spcBef>
                <a:spcPct val="50000"/>
              </a:spcBef>
            </a:pPr>
            <a:r>
              <a:rPr lang="es-VE" smtClean="0"/>
              <a:t>El nivel de líquido dentro del liner causa múltiples Ecos con la misma polaridad de las perforaciones.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s-VE" smtClean="0"/>
              <a:t>Liquid level inside liner causes multiple echoes with alternating polarity LlLn and LlLnLlLn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s-VE" smtClean="0"/>
              <a:t>Liner echo is repeated  at Ln</a:t>
            </a:r>
            <a:r>
              <a:rPr lang="es-VE" baseline="-25000" smtClean="0"/>
              <a:t>1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s-VE" smtClean="0"/>
              <a:t>No echoes from the perforations below liquid level</a:t>
            </a:r>
            <a:endParaRPr lang="es-VE"/>
          </a:p>
        </p:txBody>
      </p:sp>
      <p:sp>
        <p:nvSpPr>
          <p:cNvPr id="72" name="Text Box 3105"/>
          <p:cNvSpPr txBox="1">
            <a:spLocks noChangeArrowheads="1"/>
          </p:cNvSpPr>
          <p:nvPr/>
        </p:nvSpPr>
        <p:spPr bwMode="auto">
          <a:xfrm rot="5400000">
            <a:off x="2612232" y="3599656"/>
            <a:ext cx="2457450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Profundidad, ft.</a:t>
            </a:r>
          </a:p>
        </p:txBody>
      </p:sp>
      <p:sp>
        <p:nvSpPr>
          <p:cNvPr id="73" name="Text Box 3106"/>
          <p:cNvSpPr txBox="1">
            <a:spLocks noChangeArrowheads="1"/>
          </p:cNvSpPr>
          <p:nvPr/>
        </p:nvSpPr>
        <p:spPr bwMode="auto">
          <a:xfrm rot="5400000">
            <a:off x="5342732" y="3685381"/>
            <a:ext cx="2743200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Tiempo, segundos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t="68450" b="22884"/>
          <a:stretch>
            <a:fillRect/>
          </a:stretch>
        </p:blipFill>
        <p:spPr bwMode="auto">
          <a:xfrm>
            <a:off x="7683584" y="6000796"/>
            <a:ext cx="735981" cy="384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5" name="Text Box 71"/>
          <p:cNvSpPr txBox="1">
            <a:spLocks noChangeArrowheads="1"/>
          </p:cNvSpPr>
          <p:nvPr/>
        </p:nvSpPr>
        <p:spPr bwMode="auto">
          <a:xfrm>
            <a:off x="6629168" y="5982934"/>
            <a:ext cx="99060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dirty="0" smtClean="0">
                <a:latin typeface="Calibri" pitchFamily="34" charset="0"/>
              </a:rPr>
              <a:t>16</a:t>
            </a:r>
            <a:endParaRPr lang="en-US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27" descr="Echome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9680" y="0"/>
            <a:ext cx="1784320" cy="350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3074"/>
          <p:cNvSpPr txBox="1">
            <a:spLocks noChangeArrowheads="1"/>
          </p:cNvSpPr>
          <p:nvPr/>
        </p:nvSpPr>
        <p:spPr>
          <a:xfrm>
            <a:off x="152391" y="4572008"/>
            <a:ext cx="3205163" cy="163831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000" b="0" i="0" u="none" strike="noStrike" kern="1200" cap="none" spc="0" normalizeH="0" baseline="0" dirty="0" err="1" smtClean="0">
                <a:ln>
                  <a:noFill/>
                </a:ln>
                <a:uLnTx/>
                <a:uFillTx/>
                <a:ea typeface="+mj-ea"/>
                <a:cs typeface="+mj-cs"/>
              </a:rPr>
              <a:t>Liner</a:t>
            </a:r>
            <a: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 @ 3000’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VE" sz="2000" dirty="0" smtClean="0">
              <a:ea typeface="+mj-ea"/>
              <a:cs typeface="+mj-cs"/>
            </a:endParaRPr>
          </a:p>
          <a:p>
            <a:pPr lvl="0">
              <a:spcBef>
                <a:spcPct val="0"/>
              </a:spcBef>
              <a:defRPr/>
            </a:pPr>
            <a: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Perforaciones @ 4000</a:t>
            </a:r>
            <a:r>
              <a:rPr lang="es-VE" sz="2000" dirty="0" smtClean="0"/>
              <a:t>’ </a:t>
            </a:r>
            <a: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/>
            </a:r>
            <a:b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</a:br>
            <a: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/>
            </a:r>
            <a:b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</a:br>
            <a:r>
              <a:rPr kumimoji="0" lang="es-VE" sz="2000" b="0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Nivel de Líquido@5500</a:t>
            </a:r>
            <a:r>
              <a:rPr kumimoji="0" lang="es-VE" sz="2000" b="1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  <a:t>’ </a:t>
            </a:r>
            <a:br>
              <a:rPr kumimoji="0" lang="es-VE" sz="2000" b="1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+mj-ea"/>
                <a:cs typeface="+mj-cs"/>
              </a:rPr>
            </a:br>
            <a:endParaRPr kumimoji="0" lang="es-VE" sz="2000" b="1" i="0" u="none" strike="noStrike" kern="1200" cap="none" spc="0" normalizeH="0" baseline="0" dirty="0">
              <a:ln>
                <a:noFill/>
              </a:ln>
              <a:uLnTx/>
              <a:uFillTx/>
              <a:ea typeface="+mj-ea"/>
              <a:cs typeface="+mj-cs"/>
            </a:endParaRPr>
          </a:p>
        </p:txBody>
      </p:sp>
      <p:sp>
        <p:nvSpPr>
          <p:cNvPr id="5" name="Rectangle 3080"/>
          <p:cNvSpPr>
            <a:spLocks noChangeArrowheads="1"/>
          </p:cNvSpPr>
          <p:nvPr/>
        </p:nvSpPr>
        <p:spPr bwMode="auto">
          <a:xfrm>
            <a:off x="5334000" y="4581128"/>
            <a:ext cx="936000" cy="1656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6" name="Rectangle 3081"/>
          <p:cNvSpPr>
            <a:spLocks noChangeArrowheads="1"/>
          </p:cNvSpPr>
          <p:nvPr/>
        </p:nvSpPr>
        <p:spPr bwMode="auto">
          <a:xfrm>
            <a:off x="3429000" y="1066800"/>
            <a:ext cx="5486400" cy="5486400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7" name="Rectangle 3082"/>
          <p:cNvSpPr>
            <a:spLocks noChangeArrowheads="1"/>
          </p:cNvSpPr>
          <p:nvPr/>
        </p:nvSpPr>
        <p:spPr bwMode="auto">
          <a:xfrm>
            <a:off x="5334000" y="1219200"/>
            <a:ext cx="990600" cy="5029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8" name="Rectangle 3083"/>
          <p:cNvSpPr>
            <a:spLocks noChangeArrowheads="1"/>
          </p:cNvSpPr>
          <p:nvPr/>
        </p:nvSpPr>
        <p:spPr bwMode="auto">
          <a:xfrm>
            <a:off x="5697792" y="1219200"/>
            <a:ext cx="304800" cy="472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grpSp>
        <p:nvGrpSpPr>
          <p:cNvPr id="2" name="Group 3084"/>
          <p:cNvGrpSpPr>
            <a:grpSpLocks/>
          </p:cNvGrpSpPr>
          <p:nvPr/>
        </p:nvGrpSpPr>
        <p:grpSpPr bwMode="auto">
          <a:xfrm>
            <a:off x="4633913" y="1219200"/>
            <a:ext cx="152400" cy="5029200"/>
            <a:chOff x="2832" y="768"/>
            <a:chExt cx="96" cy="3168"/>
          </a:xfrm>
        </p:grpSpPr>
        <p:sp>
          <p:nvSpPr>
            <p:cNvPr id="10" name="Line 3085"/>
            <p:cNvSpPr>
              <a:spLocks noChangeShapeType="1"/>
            </p:cNvSpPr>
            <p:nvPr/>
          </p:nvSpPr>
          <p:spPr bwMode="auto">
            <a:xfrm>
              <a:off x="2880" y="768"/>
              <a:ext cx="0" cy="3168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1" name="Line 3086"/>
            <p:cNvSpPr>
              <a:spLocks noChangeShapeType="1"/>
            </p:cNvSpPr>
            <p:nvPr/>
          </p:nvSpPr>
          <p:spPr bwMode="auto">
            <a:xfrm>
              <a:off x="2832" y="76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2" name="Line 3087"/>
            <p:cNvSpPr>
              <a:spLocks noChangeShapeType="1"/>
            </p:cNvSpPr>
            <p:nvPr/>
          </p:nvSpPr>
          <p:spPr bwMode="auto">
            <a:xfrm>
              <a:off x="2832" y="115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3" name="Line 3088"/>
            <p:cNvSpPr>
              <a:spLocks noChangeShapeType="1"/>
            </p:cNvSpPr>
            <p:nvPr/>
          </p:nvSpPr>
          <p:spPr bwMode="auto">
            <a:xfrm>
              <a:off x="2832" y="154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4" name="Line 3089"/>
            <p:cNvSpPr>
              <a:spLocks noChangeShapeType="1"/>
            </p:cNvSpPr>
            <p:nvPr/>
          </p:nvSpPr>
          <p:spPr bwMode="auto">
            <a:xfrm>
              <a:off x="2832" y="193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5" name="Line 3090"/>
            <p:cNvSpPr>
              <a:spLocks noChangeShapeType="1"/>
            </p:cNvSpPr>
            <p:nvPr/>
          </p:nvSpPr>
          <p:spPr bwMode="auto">
            <a:xfrm>
              <a:off x="2832" y="232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6" name="Line 3091"/>
            <p:cNvSpPr>
              <a:spLocks noChangeShapeType="1"/>
            </p:cNvSpPr>
            <p:nvPr/>
          </p:nvSpPr>
          <p:spPr bwMode="auto">
            <a:xfrm>
              <a:off x="2832" y="271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7" name="Line 3092"/>
            <p:cNvSpPr>
              <a:spLocks noChangeShapeType="1"/>
            </p:cNvSpPr>
            <p:nvPr/>
          </p:nvSpPr>
          <p:spPr bwMode="auto">
            <a:xfrm>
              <a:off x="2832" y="310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8" name="Line 3093"/>
            <p:cNvSpPr>
              <a:spLocks noChangeShapeType="1"/>
            </p:cNvSpPr>
            <p:nvPr/>
          </p:nvSpPr>
          <p:spPr bwMode="auto">
            <a:xfrm>
              <a:off x="2832" y="349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9" name="Line 3094"/>
            <p:cNvSpPr>
              <a:spLocks noChangeShapeType="1"/>
            </p:cNvSpPr>
            <p:nvPr/>
          </p:nvSpPr>
          <p:spPr bwMode="auto">
            <a:xfrm>
              <a:off x="2832" y="388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20" name="Line 3095"/>
          <p:cNvSpPr>
            <a:spLocks noChangeShapeType="1"/>
          </p:cNvSpPr>
          <p:nvPr/>
        </p:nvSpPr>
        <p:spPr bwMode="auto">
          <a:xfrm>
            <a:off x="7086600" y="1219200"/>
            <a:ext cx="0" cy="5181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1" name="Line 3096"/>
          <p:cNvSpPr>
            <a:spLocks noChangeShapeType="1"/>
          </p:cNvSpPr>
          <p:nvPr/>
        </p:nvSpPr>
        <p:spPr bwMode="auto">
          <a:xfrm>
            <a:off x="7010400" y="1219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2" name="Line 3097"/>
          <p:cNvSpPr>
            <a:spLocks noChangeShapeType="1"/>
          </p:cNvSpPr>
          <p:nvPr/>
        </p:nvSpPr>
        <p:spPr bwMode="auto">
          <a:xfrm>
            <a:off x="7010400" y="18383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3" name="Line 3098"/>
          <p:cNvSpPr>
            <a:spLocks noChangeShapeType="1"/>
          </p:cNvSpPr>
          <p:nvPr/>
        </p:nvSpPr>
        <p:spPr bwMode="auto">
          <a:xfrm>
            <a:off x="7010400" y="24574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4" name="Line 3099"/>
          <p:cNvSpPr>
            <a:spLocks noChangeShapeType="1"/>
          </p:cNvSpPr>
          <p:nvPr/>
        </p:nvSpPr>
        <p:spPr bwMode="auto">
          <a:xfrm>
            <a:off x="7010400" y="30765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5" name="Line 3100"/>
          <p:cNvSpPr>
            <a:spLocks noChangeShapeType="1"/>
          </p:cNvSpPr>
          <p:nvPr/>
        </p:nvSpPr>
        <p:spPr bwMode="auto">
          <a:xfrm>
            <a:off x="7010400" y="36957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6" name="Line 3101"/>
          <p:cNvSpPr>
            <a:spLocks noChangeShapeType="1"/>
          </p:cNvSpPr>
          <p:nvPr/>
        </p:nvSpPr>
        <p:spPr bwMode="auto">
          <a:xfrm>
            <a:off x="7010400" y="431482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7" name="Line 3102"/>
          <p:cNvSpPr>
            <a:spLocks noChangeShapeType="1"/>
          </p:cNvSpPr>
          <p:nvPr/>
        </p:nvSpPr>
        <p:spPr bwMode="auto">
          <a:xfrm>
            <a:off x="7010400" y="493395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8" name="Line 3103"/>
          <p:cNvSpPr>
            <a:spLocks noChangeShapeType="1"/>
          </p:cNvSpPr>
          <p:nvPr/>
        </p:nvSpPr>
        <p:spPr bwMode="auto">
          <a:xfrm>
            <a:off x="7010400" y="5553075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9" name="Line 3104"/>
          <p:cNvSpPr>
            <a:spLocks noChangeShapeType="1"/>
          </p:cNvSpPr>
          <p:nvPr/>
        </p:nvSpPr>
        <p:spPr bwMode="auto">
          <a:xfrm>
            <a:off x="7010400" y="6172200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0" name="Text Box 3105"/>
          <p:cNvSpPr txBox="1">
            <a:spLocks noChangeArrowheads="1"/>
          </p:cNvSpPr>
          <p:nvPr/>
        </p:nvSpPr>
        <p:spPr bwMode="auto">
          <a:xfrm rot="5400000">
            <a:off x="2612232" y="3599656"/>
            <a:ext cx="2457450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Profundidad, ft.</a:t>
            </a:r>
          </a:p>
        </p:txBody>
      </p:sp>
      <p:sp>
        <p:nvSpPr>
          <p:cNvPr id="31" name="Text Box 3106"/>
          <p:cNvSpPr txBox="1">
            <a:spLocks noChangeArrowheads="1"/>
          </p:cNvSpPr>
          <p:nvPr/>
        </p:nvSpPr>
        <p:spPr bwMode="auto">
          <a:xfrm rot="5400000">
            <a:off x="5342732" y="3685381"/>
            <a:ext cx="2743200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Tiempo, segundos</a:t>
            </a:r>
          </a:p>
        </p:txBody>
      </p:sp>
      <p:sp>
        <p:nvSpPr>
          <p:cNvPr id="32" name="Line 3107"/>
          <p:cNvSpPr>
            <a:spLocks noChangeShapeType="1"/>
          </p:cNvSpPr>
          <p:nvPr/>
        </p:nvSpPr>
        <p:spPr bwMode="auto">
          <a:xfrm>
            <a:off x="7086600" y="1219200"/>
            <a:ext cx="1676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stealth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3" name="Text Box 3108"/>
          <p:cNvSpPr txBox="1">
            <a:spLocks noChangeArrowheads="1"/>
          </p:cNvSpPr>
          <p:nvPr/>
        </p:nvSpPr>
        <p:spPr bwMode="auto">
          <a:xfrm>
            <a:off x="37338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34" name="Text Box 3109"/>
          <p:cNvSpPr txBox="1">
            <a:spLocks noChangeArrowheads="1"/>
          </p:cNvSpPr>
          <p:nvPr/>
        </p:nvSpPr>
        <p:spPr bwMode="auto">
          <a:xfrm>
            <a:off x="3581400" y="1676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1000</a:t>
            </a:r>
          </a:p>
        </p:txBody>
      </p:sp>
      <p:sp>
        <p:nvSpPr>
          <p:cNvPr id="35" name="Text Box 3110"/>
          <p:cNvSpPr txBox="1">
            <a:spLocks noChangeArrowheads="1"/>
          </p:cNvSpPr>
          <p:nvPr/>
        </p:nvSpPr>
        <p:spPr bwMode="auto">
          <a:xfrm>
            <a:off x="3581400" y="2286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2000</a:t>
            </a:r>
          </a:p>
        </p:txBody>
      </p:sp>
      <p:sp>
        <p:nvSpPr>
          <p:cNvPr id="36" name="Text Box 3111"/>
          <p:cNvSpPr txBox="1">
            <a:spLocks noChangeArrowheads="1"/>
          </p:cNvSpPr>
          <p:nvPr/>
        </p:nvSpPr>
        <p:spPr bwMode="auto">
          <a:xfrm>
            <a:off x="3581400" y="2895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3000</a:t>
            </a:r>
          </a:p>
        </p:txBody>
      </p:sp>
      <p:sp>
        <p:nvSpPr>
          <p:cNvPr id="37" name="Text Box 3112"/>
          <p:cNvSpPr txBox="1">
            <a:spLocks noChangeArrowheads="1"/>
          </p:cNvSpPr>
          <p:nvPr/>
        </p:nvSpPr>
        <p:spPr bwMode="auto">
          <a:xfrm>
            <a:off x="3581400" y="35052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4000</a:t>
            </a:r>
          </a:p>
        </p:txBody>
      </p:sp>
      <p:sp>
        <p:nvSpPr>
          <p:cNvPr id="38" name="Text Box 3113"/>
          <p:cNvSpPr txBox="1">
            <a:spLocks noChangeArrowheads="1"/>
          </p:cNvSpPr>
          <p:nvPr/>
        </p:nvSpPr>
        <p:spPr bwMode="auto">
          <a:xfrm>
            <a:off x="3581400" y="41148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5000</a:t>
            </a:r>
          </a:p>
        </p:txBody>
      </p:sp>
      <p:sp>
        <p:nvSpPr>
          <p:cNvPr id="39" name="Text Box 3114"/>
          <p:cNvSpPr txBox="1">
            <a:spLocks noChangeArrowheads="1"/>
          </p:cNvSpPr>
          <p:nvPr/>
        </p:nvSpPr>
        <p:spPr bwMode="auto">
          <a:xfrm>
            <a:off x="3581400" y="47244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6000</a:t>
            </a:r>
          </a:p>
        </p:txBody>
      </p:sp>
      <p:sp>
        <p:nvSpPr>
          <p:cNvPr id="40" name="Text Box 3115"/>
          <p:cNvSpPr txBox="1">
            <a:spLocks noChangeArrowheads="1"/>
          </p:cNvSpPr>
          <p:nvPr/>
        </p:nvSpPr>
        <p:spPr bwMode="auto">
          <a:xfrm>
            <a:off x="3581400" y="53340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7000</a:t>
            </a:r>
          </a:p>
        </p:txBody>
      </p:sp>
      <p:sp>
        <p:nvSpPr>
          <p:cNvPr id="41" name="Text Box 3116"/>
          <p:cNvSpPr txBox="1">
            <a:spLocks noChangeArrowheads="1"/>
          </p:cNvSpPr>
          <p:nvPr/>
        </p:nvSpPr>
        <p:spPr bwMode="auto">
          <a:xfrm>
            <a:off x="3581400" y="5943600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8000</a:t>
            </a:r>
          </a:p>
        </p:txBody>
      </p:sp>
      <p:sp>
        <p:nvSpPr>
          <p:cNvPr id="42" name="Freeform 3117"/>
          <p:cNvSpPr>
            <a:spLocks/>
          </p:cNvSpPr>
          <p:nvPr/>
        </p:nvSpPr>
        <p:spPr bwMode="auto">
          <a:xfrm>
            <a:off x="7620000" y="1104900"/>
            <a:ext cx="850900" cy="342900"/>
          </a:xfrm>
          <a:custGeom>
            <a:avLst/>
            <a:gdLst>
              <a:gd name="T0" fmla="*/ 328 w 536"/>
              <a:gd name="T1" fmla="*/ 0 h 216"/>
              <a:gd name="T2" fmla="*/ 328 w 536"/>
              <a:gd name="T3" fmla="*/ 56 h 216"/>
              <a:gd name="T4" fmla="*/ 0 w 536"/>
              <a:gd name="T5" fmla="*/ 120 h 216"/>
              <a:gd name="T6" fmla="*/ 536 w 536"/>
              <a:gd name="T7" fmla="*/ 168 h 216"/>
              <a:gd name="T8" fmla="*/ 336 w 536"/>
              <a:gd name="T9" fmla="*/ 216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6"/>
              <a:gd name="T16" fmla="*/ 0 h 216"/>
              <a:gd name="T17" fmla="*/ 536 w 53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6" h="216">
                <a:moveTo>
                  <a:pt x="328" y="0"/>
                </a:moveTo>
                <a:cubicBezTo>
                  <a:pt x="328" y="19"/>
                  <a:pt x="328" y="37"/>
                  <a:pt x="328" y="56"/>
                </a:cubicBezTo>
                <a:lnTo>
                  <a:pt x="0" y="120"/>
                </a:lnTo>
                <a:lnTo>
                  <a:pt x="536" y="168"/>
                </a:lnTo>
                <a:lnTo>
                  <a:pt x="336" y="21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43" name="Text Box 3118"/>
          <p:cNvSpPr txBox="1">
            <a:spLocks noChangeArrowheads="1"/>
          </p:cNvSpPr>
          <p:nvPr/>
        </p:nvSpPr>
        <p:spPr bwMode="auto">
          <a:xfrm>
            <a:off x="6248400" y="1066800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44" name="Rectangle 3137"/>
          <p:cNvSpPr>
            <a:spLocks noChangeArrowheads="1"/>
          </p:cNvSpPr>
          <p:nvPr/>
        </p:nvSpPr>
        <p:spPr bwMode="auto">
          <a:xfrm>
            <a:off x="5334000" y="3048000"/>
            <a:ext cx="152400" cy="32004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45" name="Rectangle 3138"/>
          <p:cNvSpPr>
            <a:spLocks noChangeArrowheads="1"/>
          </p:cNvSpPr>
          <p:nvPr/>
        </p:nvSpPr>
        <p:spPr bwMode="auto">
          <a:xfrm>
            <a:off x="6172200" y="3048000"/>
            <a:ext cx="152400" cy="32004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grpSp>
        <p:nvGrpSpPr>
          <p:cNvPr id="9" name="Group 3119"/>
          <p:cNvGrpSpPr>
            <a:grpSpLocks/>
          </p:cNvGrpSpPr>
          <p:nvPr/>
        </p:nvGrpSpPr>
        <p:grpSpPr bwMode="auto">
          <a:xfrm>
            <a:off x="5257800" y="3645024"/>
            <a:ext cx="228600" cy="152400"/>
            <a:chOff x="3312" y="2640"/>
            <a:chExt cx="96" cy="96"/>
          </a:xfrm>
        </p:grpSpPr>
        <p:sp>
          <p:nvSpPr>
            <p:cNvPr id="47" name="Line 3120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8" name="Line 3121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9" name="Line 3122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46" name="Group 3123"/>
          <p:cNvGrpSpPr>
            <a:grpSpLocks/>
          </p:cNvGrpSpPr>
          <p:nvPr/>
        </p:nvGrpSpPr>
        <p:grpSpPr bwMode="auto">
          <a:xfrm>
            <a:off x="5257800" y="5486400"/>
            <a:ext cx="228600" cy="152400"/>
            <a:chOff x="3312" y="2640"/>
            <a:chExt cx="96" cy="96"/>
          </a:xfrm>
        </p:grpSpPr>
        <p:sp>
          <p:nvSpPr>
            <p:cNvPr id="51" name="Line 3124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2" name="Line 3125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3" name="Line 3126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0" name="Group 3127"/>
          <p:cNvGrpSpPr>
            <a:grpSpLocks/>
          </p:cNvGrpSpPr>
          <p:nvPr/>
        </p:nvGrpSpPr>
        <p:grpSpPr bwMode="auto">
          <a:xfrm>
            <a:off x="6172200" y="3645024"/>
            <a:ext cx="228600" cy="152400"/>
            <a:chOff x="3312" y="2640"/>
            <a:chExt cx="96" cy="96"/>
          </a:xfrm>
        </p:grpSpPr>
        <p:sp>
          <p:nvSpPr>
            <p:cNvPr id="55" name="Line 3128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6" name="Line 3129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7" name="Line 3130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4" name="Group 3139"/>
          <p:cNvGrpSpPr>
            <a:grpSpLocks/>
          </p:cNvGrpSpPr>
          <p:nvPr/>
        </p:nvGrpSpPr>
        <p:grpSpPr bwMode="auto">
          <a:xfrm>
            <a:off x="6172200" y="5486400"/>
            <a:ext cx="228600" cy="152400"/>
            <a:chOff x="3312" y="2640"/>
            <a:chExt cx="96" cy="96"/>
          </a:xfrm>
        </p:grpSpPr>
        <p:sp>
          <p:nvSpPr>
            <p:cNvPr id="59" name="Line 3140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60" name="Line 3141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61" name="Line 3142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62" name="Text Box 3144"/>
          <p:cNvSpPr txBox="1">
            <a:spLocks noChangeArrowheads="1"/>
          </p:cNvSpPr>
          <p:nvPr/>
        </p:nvSpPr>
        <p:spPr bwMode="auto">
          <a:xfrm>
            <a:off x="285720" y="3286124"/>
            <a:ext cx="2590800" cy="86177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s-VE" sz="2000" dirty="0" smtClean="0">
                <a:cs typeface="+mn-cs"/>
              </a:rPr>
              <a:t>Velocidad Acústica</a:t>
            </a:r>
          </a:p>
          <a:p>
            <a:pPr marL="457200" fontAlgn="auto">
              <a:spcBef>
                <a:spcPct val="5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s-VE" sz="2000" dirty="0" smtClean="0">
                <a:cs typeface="+mn-cs"/>
              </a:rPr>
              <a:t> = 1000 ft/</a:t>
            </a:r>
            <a:r>
              <a:rPr lang="es-VE" sz="2000" dirty="0" err="1" smtClean="0">
                <a:cs typeface="+mn-cs"/>
              </a:rPr>
              <a:t>sec</a:t>
            </a:r>
            <a:endParaRPr lang="es-VE" sz="2000" dirty="0">
              <a:cs typeface="+mn-cs"/>
            </a:endParaRPr>
          </a:p>
        </p:txBody>
      </p:sp>
      <p:sp>
        <p:nvSpPr>
          <p:cNvPr id="63" name="Rectangle 5"/>
          <p:cNvSpPr>
            <a:spLocks noChangeArrowheads="1"/>
          </p:cNvSpPr>
          <p:nvPr/>
        </p:nvSpPr>
        <p:spPr bwMode="auto">
          <a:xfrm>
            <a:off x="152400" y="500042"/>
            <a:ext cx="320516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400" dirty="0" smtClean="0">
                <a:cs typeface="+mn-cs"/>
              </a:rPr>
              <a:t>Dibuje la respuesta acústica de los cambios de área en el pozo e indique en la escala su tiempo de viaje (RTTT).</a:t>
            </a:r>
            <a:endParaRPr lang="es-VE" sz="2400" dirty="0">
              <a:cs typeface="+mn-cs"/>
            </a:endParaRPr>
          </a:p>
        </p:txBody>
      </p:sp>
      <p:sp>
        <p:nvSpPr>
          <p:cNvPr id="64" name="Rectangle 6"/>
          <p:cNvSpPr>
            <a:spLocks noChangeArrowheads="1"/>
          </p:cNvSpPr>
          <p:nvPr/>
        </p:nvSpPr>
        <p:spPr bwMode="auto">
          <a:xfrm>
            <a:off x="4067196" y="571480"/>
            <a:ext cx="4148142" cy="500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rPr>
              <a:t>Pulso de Explosión</a:t>
            </a:r>
            <a:endParaRPr lang="es-VE" sz="24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27" descr="Echome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9680" y="0"/>
            <a:ext cx="1784320" cy="350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3080"/>
          <p:cNvSpPr>
            <a:spLocks noChangeArrowheads="1"/>
          </p:cNvSpPr>
          <p:nvPr/>
        </p:nvSpPr>
        <p:spPr bwMode="auto">
          <a:xfrm>
            <a:off x="5383088" y="4955824"/>
            <a:ext cx="936000" cy="1548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6" name="Rectangle 3081"/>
          <p:cNvSpPr>
            <a:spLocks noChangeArrowheads="1"/>
          </p:cNvSpPr>
          <p:nvPr/>
        </p:nvSpPr>
        <p:spPr bwMode="auto">
          <a:xfrm>
            <a:off x="3478088" y="1326976"/>
            <a:ext cx="5486400" cy="5486400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7" name="Rectangle 3082"/>
          <p:cNvSpPr>
            <a:spLocks noChangeArrowheads="1"/>
          </p:cNvSpPr>
          <p:nvPr/>
        </p:nvSpPr>
        <p:spPr bwMode="auto">
          <a:xfrm>
            <a:off x="5383088" y="1479376"/>
            <a:ext cx="990600" cy="5029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8" name="Rectangle 3083"/>
          <p:cNvSpPr>
            <a:spLocks noChangeArrowheads="1"/>
          </p:cNvSpPr>
          <p:nvPr/>
        </p:nvSpPr>
        <p:spPr bwMode="auto">
          <a:xfrm>
            <a:off x="5746880" y="1479376"/>
            <a:ext cx="304800" cy="472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grpSp>
        <p:nvGrpSpPr>
          <p:cNvPr id="2" name="Group 3084"/>
          <p:cNvGrpSpPr>
            <a:grpSpLocks/>
          </p:cNvGrpSpPr>
          <p:nvPr/>
        </p:nvGrpSpPr>
        <p:grpSpPr bwMode="auto">
          <a:xfrm>
            <a:off x="4683001" y="1479376"/>
            <a:ext cx="152400" cy="5029200"/>
            <a:chOff x="2832" y="768"/>
            <a:chExt cx="96" cy="3168"/>
          </a:xfrm>
        </p:grpSpPr>
        <p:sp>
          <p:nvSpPr>
            <p:cNvPr id="10" name="Line 3085"/>
            <p:cNvSpPr>
              <a:spLocks noChangeShapeType="1"/>
            </p:cNvSpPr>
            <p:nvPr/>
          </p:nvSpPr>
          <p:spPr bwMode="auto">
            <a:xfrm>
              <a:off x="2880" y="768"/>
              <a:ext cx="0" cy="3168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1" name="Line 3086"/>
            <p:cNvSpPr>
              <a:spLocks noChangeShapeType="1"/>
            </p:cNvSpPr>
            <p:nvPr/>
          </p:nvSpPr>
          <p:spPr bwMode="auto">
            <a:xfrm>
              <a:off x="2832" y="76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2" name="Line 3087"/>
            <p:cNvSpPr>
              <a:spLocks noChangeShapeType="1"/>
            </p:cNvSpPr>
            <p:nvPr/>
          </p:nvSpPr>
          <p:spPr bwMode="auto">
            <a:xfrm>
              <a:off x="2832" y="115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3" name="Line 3088"/>
            <p:cNvSpPr>
              <a:spLocks noChangeShapeType="1"/>
            </p:cNvSpPr>
            <p:nvPr/>
          </p:nvSpPr>
          <p:spPr bwMode="auto">
            <a:xfrm>
              <a:off x="2832" y="154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4" name="Line 3089"/>
            <p:cNvSpPr>
              <a:spLocks noChangeShapeType="1"/>
            </p:cNvSpPr>
            <p:nvPr/>
          </p:nvSpPr>
          <p:spPr bwMode="auto">
            <a:xfrm>
              <a:off x="2832" y="193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5" name="Line 3090"/>
            <p:cNvSpPr>
              <a:spLocks noChangeShapeType="1"/>
            </p:cNvSpPr>
            <p:nvPr/>
          </p:nvSpPr>
          <p:spPr bwMode="auto">
            <a:xfrm>
              <a:off x="2832" y="232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6" name="Line 3091"/>
            <p:cNvSpPr>
              <a:spLocks noChangeShapeType="1"/>
            </p:cNvSpPr>
            <p:nvPr/>
          </p:nvSpPr>
          <p:spPr bwMode="auto">
            <a:xfrm>
              <a:off x="2832" y="271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7" name="Line 3092"/>
            <p:cNvSpPr>
              <a:spLocks noChangeShapeType="1"/>
            </p:cNvSpPr>
            <p:nvPr/>
          </p:nvSpPr>
          <p:spPr bwMode="auto">
            <a:xfrm>
              <a:off x="2832" y="310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8" name="Line 3093"/>
            <p:cNvSpPr>
              <a:spLocks noChangeShapeType="1"/>
            </p:cNvSpPr>
            <p:nvPr/>
          </p:nvSpPr>
          <p:spPr bwMode="auto">
            <a:xfrm>
              <a:off x="2832" y="349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19" name="Line 3094"/>
            <p:cNvSpPr>
              <a:spLocks noChangeShapeType="1"/>
            </p:cNvSpPr>
            <p:nvPr/>
          </p:nvSpPr>
          <p:spPr bwMode="auto">
            <a:xfrm>
              <a:off x="2832" y="3888"/>
              <a:ext cx="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20" name="Line 3095"/>
          <p:cNvSpPr>
            <a:spLocks noChangeShapeType="1"/>
          </p:cNvSpPr>
          <p:nvPr/>
        </p:nvSpPr>
        <p:spPr bwMode="auto">
          <a:xfrm>
            <a:off x="7135688" y="1479376"/>
            <a:ext cx="0" cy="5181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1" name="Line 3096"/>
          <p:cNvSpPr>
            <a:spLocks noChangeShapeType="1"/>
          </p:cNvSpPr>
          <p:nvPr/>
        </p:nvSpPr>
        <p:spPr bwMode="auto">
          <a:xfrm>
            <a:off x="7059488" y="1479376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2" name="Line 3097"/>
          <p:cNvSpPr>
            <a:spLocks noChangeShapeType="1"/>
          </p:cNvSpPr>
          <p:nvPr/>
        </p:nvSpPr>
        <p:spPr bwMode="auto">
          <a:xfrm>
            <a:off x="7059488" y="2098501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3" name="Line 3098"/>
          <p:cNvSpPr>
            <a:spLocks noChangeShapeType="1"/>
          </p:cNvSpPr>
          <p:nvPr/>
        </p:nvSpPr>
        <p:spPr bwMode="auto">
          <a:xfrm>
            <a:off x="7059488" y="2717626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4" name="Line 3099"/>
          <p:cNvSpPr>
            <a:spLocks noChangeShapeType="1"/>
          </p:cNvSpPr>
          <p:nvPr/>
        </p:nvSpPr>
        <p:spPr bwMode="auto">
          <a:xfrm>
            <a:off x="7059488" y="3336751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5" name="Line 3100"/>
          <p:cNvSpPr>
            <a:spLocks noChangeShapeType="1"/>
          </p:cNvSpPr>
          <p:nvPr/>
        </p:nvSpPr>
        <p:spPr bwMode="auto">
          <a:xfrm>
            <a:off x="7059488" y="3955876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6" name="Line 3101"/>
          <p:cNvSpPr>
            <a:spLocks noChangeShapeType="1"/>
          </p:cNvSpPr>
          <p:nvPr/>
        </p:nvSpPr>
        <p:spPr bwMode="auto">
          <a:xfrm>
            <a:off x="7059488" y="4575001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7" name="Line 3102"/>
          <p:cNvSpPr>
            <a:spLocks noChangeShapeType="1"/>
          </p:cNvSpPr>
          <p:nvPr/>
        </p:nvSpPr>
        <p:spPr bwMode="auto">
          <a:xfrm>
            <a:off x="7059488" y="5194126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8" name="Line 3103"/>
          <p:cNvSpPr>
            <a:spLocks noChangeShapeType="1"/>
          </p:cNvSpPr>
          <p:nvPr/>
        </p:nvSpPr>
        <p:spPr bwMode="auto">
          <a:xfrm>
            <a:off x="7059488" y="5813251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29" name="Line 3104"/>
          <p:cNvSpPr>
            <a:spLocks noChangeShapeType="1"/>
          </p:cNvSpPr>
          <p:nvPr/>
        </p:nvSpPr>
        <p:spPr bwMode="auto">
          <a:xfrm>
            <a:off x="7059488" y="6432376"/>
            <a:ext cx="152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0" name="Text Box 3105"/>
          <p:cNvSpPr txBox="1">
            <a:spLocks noChangeArrowheads="1"/>
          </p:cNvSpPr>
          <p:nvPr/>
        </p:nvSpPr>
        <p:spPr bwMode="auto">
          <a:xfrm rot="5400000">
            <a:off x="2661320" y="3859832"/>
            <a:ext cx="2457450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Profundidad, ft.</a:t>
            </a:r>
          </a:p>
        </p:txBody>
      </p:sp>
      <p:sp>
        <p:nvSpPr>
          <p:cNvPr id="31" name="Text Box 3106"/>
          <p:cNvSpPr txBox="1">
            <a:spLocks noChangeArrowheads="1"/>
          </p:cNvSpPr>
          <p:nvPr/>
        </p:nvSpPr>
        <p:spPr bwMode="auto">
          <a:xfrm rot="5400000">
            <a:off x="7464077" y="3728789"/>
            <a:ext cx="2743200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 sz="2000">
                <a:latin typeface="Calibri" pitchFamily="34" charset="0"/>
              </a:rPr>
              <a:t>Tiempo, segundos</a:t>
            </a:r>
          </a:p>
        </p:txBody>
      </p:sp>
      <p:sp>
        <p:nvSpPr>
          <p:cNvPr id="32" name="Line 3107"/>
          <p:cNvSpPr>
            <a:spLocks noChangeShapeType="1"/>
          </p:cNvSpPr>
          <p:nvPr/>
        </p:nvSpPr>
        <p:spPr bwMode="auto">
          <a:xfrm>
            <a:off x="7135688" y="1479376"/>
            <a:ext cx="16764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stealth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33" name="Text Box 3108"/>
          <p:cNvSpPr txBox="1">
            <a:spLocks noChangeArrowheads="1"/>
          </p:cNvSpPr>
          <p:nvPr/>
        </p:nvSpPr>
        <p:spPr bwMode="auto">
          <a:xfrm>
            <a:off x="3782888" y="1326976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34" name="Text Box 3109"/>
          <p:cNvSpPr txBox="1">
            <a:spLocks noChangeArrowheads="1"/>
          </p:cNvSpPr>
          <p:nvPr/>
        </p:nvSpPr>
        <p:spPr bwMode="auto">
          <a:xfrm>
            <a:off x="3630488" y="1936576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1000</a:t>
            </a:r>
          </a:p>
        </p:txBody>
      </p:sp>
      <p:sp>
        <p:nvSpPr>
          <p:cNvPr id="35" name="Text Box 3110"/>
          <p:cNvSpPr txBox="1">
            <a:spLocks noChangeArrowheads="1"/>
          </p:cNvSpPr>
          <p:nvPr/>
        </p:nvSpPr>
        <p:spPr bwMode="auto">
          <a:xfrm>
            <a:off x="3630488" y="2546176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2000</a:t>
            </a:r>
          </a:p>
        </p:txBody>
      </p:sp>
      <p:sp>
        <p:nvSpPr>
          <p:cNvPr id="36" name="Text Box 3111"/>
          <p:cNvSpPr txBox="1">
            <a:spLocks noChangeArrowheads="1"/>
          </p:cNvSpPr>
          <p:nvPr/>
        </p:nvSpPr>
        <p:spPr bwMode="auto">
          <a:xfrm>
            <a:off x="3630488" y="3155776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3000</a:t>
            </a:r>
          </a:p>
        </p:txBody>
      </p:sp>
      <p:sp>
        <p:nvSpPr>
          <p:cNvPr id="37" name="Text Box 3112"/>
          <p:cNvSpPr txBox="1">
            <a:spLocks noChangeArrowheads="1"/>
          </p:cNvSpPr>
          <p:nvPr/>
        </p:nvSpPr>
        <p:spPr bwMode="auto">
          <a:xfrm>
            <a:off x="3630488" y="3765376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4000</a:t>
            </a:r>
          </a:p>
        </p:txBody>
      </p:sp>
      <p:sp>
        <p:nvSpPr>
          <p:cNvPr id="38" name="Text Box 3113"/>
          <p:cNvSpPr txBox="1">
            <a:spLocks noChangeArrowheads="1"/>
          </p:cNvSpPr>
          <p:nvPr/>
        </p:nvSpPr>
        <p:spPr bwMode="auto">
          <a:xfrm>
            <a:off x="3630488" y="4374976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5000</a:t>
            </a:r>
          </a:p>
        </p:txBody>
      </p:sp>
      <p:sp>
        <p:nvSpPr>
          <p:cNvPr id="39" name="Text Box 3114"/>
          <p:cNvSpPr txBox="1">
            <a:spLocks noChangeArrowheads="1"/>
          </p:cNvSpPr>
          <p:nvPr/>
        </p:nvSpPr>
        <p:spPr bwMode="auto">
          <a:xfrm>
            <a:off x="3630488" y="4984576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6000</a:t>
            </a:r>
          </a:p>
        </p:txBody>
      </p:sp>
      <p:sp>
        <p:nvSpPr>
          <p:cNvPr id="40" name="Text Box 3115"/>
          <p:cNvSpPr txBox="1">
            <a:spLocks noChangeArrowheads="1"/>
          </p:cNvSpPr>
          <p:nvPr/>
        </p:nvSpPr>
        <p:spPr bwMode="auto">
          <a:xfrm>
            <a:off x="3630488" y="5594176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7000</a:t>
            </a:r>
          </a:p>
        </p:txBody>
      </p:sp>
      <p:sp>
        <p:nvSpPr>
          <p:cNvPr id="41" name="Text Box 3116"/>
          <p:cNvSpPr txBox="1">
            <a:spLocks noChangeArrowheads="1"/>
          </p:cNvSpPr>
          <p:nvPr/>
        </p:nvSpPr>
        <p:spPr bwMode="auto">
          <a:xfrm>
            <a:off x="3630488" y="6203776"/>
            <a:ext cx="1143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8000</a:t>
            </a:r>
          </a:p>
        </p:txBody>
      </p:sp>
      <p:sp>
        <p:nvSpPr>
          <p:cNvPr id="42" name="Freeform 3117"/>
          <p:cNvSpPr>
            <a:spLocks/>
          </p:cNvSpPr>
          <p:nvPr/>
        </p:nvSpPr>
        <p:spPr bwMode="auto">
          <a:xfrm>
            <a:off x="7669088" y="1365076"/>
            <a:ext cx="850900" cy="342900"/>
          </a:xfrm>
          <a:custGeom>
            <a:avLst/>
            <a:gdLst>
              <a:gd name="T0" fmla="*/ 328 w 536"/>
              <a:gd name="T1" fmla="*/ 0 h 216"/>
              <a:gd name="T2" fmla="*/ 328 w 536"/>
              <a:gd name="T3" fmla="*/ 56 h 216"/>
              <a:gd name="T4" fmla="*/ 0 w 536"/>
              <a:gd name="T5" fmla="*/ 120 h 216"/>
              <a:gd name="T6" fmla="*/ 536 w 536"/>
              <a:gd name="T7" fmla="*/ 168 h 216"/>
              <a:gd name="T8" fmla="*/ 336 w 536"/>
              <a:gd name="T9" fmla="*/ 216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6"/>
              <a:gd name="T16" fmla="*/ 0 h 216"/>
              <a:gd name="T17" fmla="*/ 536 w 53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6" h="216">
                <a:moveTo>
                  <a:pt x="328" y="0"/>
                </a:moveTo>
                <a:cubicBezTo>
                  <a:pt x="328" y="19"/>
                  <a:pt x="328" y="37"/>
                  <a:pt x="328" y="56"/>
                </a:cubicBezTo>
                <a:lnTo>
                  <a:pt x="0" y="120"/>
                </a:lnTo>
                <a:lnTo>
                  <a:pt x="536" y="168"/>
                </a:lnTo>
                <a:lnTo>
                  <a:pt x="336" y="21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sp>
        <p:nvSpPr>
          <p:cNvPr id="43" name="Text Box 3118"/>
          <p:cNvSpPr txBox="1">
            <a:spLocks noChangeArrowheads="1"/>
          </p:cNvSpPr>
          <p:nvPr/>
        </p:nvSpPr>
        <p:spPr bwMode="auto">
          <a:xfrm>
            <a:off x="6297488" y="1326976"/>
            <a:ext cx="762000" cy="3127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latin typeface="Calibri" pitchFamily="34" charset="0"/>
              </a:rPr>
              <a:t>0</a:t>
            </a:r>
          </a:p>
        </p:txBody>
      </p:sp>
      <p:sp>
        <p:nvSpPr>
          <p:cNvPr id="44" name="Rectangle 3137"/>
          <p:cNvSpPr>
            <a:spLocks noChangeArrowheads="1"/>
          </p:cNvSpPr>
          <p:nvPr/>
        </p:nvSpPr>
        <p:spPr bwMode="auto">
          <a:xfrm>
            <a:off x="5383088" y="3308176"/>
            <a:ext cx="152400" cy="32004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sp>
        <p:nvSpPr>
          <p:cNvPr id="45" name="Rectangle 3138"/>
          <p:cNvSpPr>
            <a:spLocks noChangeArrowheads="1"/>
          </p:cNvSpPr>
          <p:nvPr/>
        </p:nvSpPr>
        <p:spPr bwMode="auto">
          <a:xfrm>
            <a:off x="6221288" y="3308176"/>
            <a:ext cx="152400" cy="32004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s-VE">
              <a:latin typeface="Calibri" pitchFamily="34" charset="0"/>
            </a:endParaRPr>
          </a:p>
        </p:txBody>
      </p:sp>
      <p:grpSp>
        <p:nvGrpSpPr>
          <p:cNvPr id="9" name="Group 3119"/>
          <p:cNvGrpSpPr>
            <a:grpSpLocks/>
          </p:cNvGrpSpPr>
          <p:nvPr/>
        </p:nvGrpSpPr>
        <p:grpSpPr bwMode="auto">
          <a:xfrm>
            <a:off x="5306888" y="3905200"/>
            <a:ext cx="228600" cy="152400"/>
            <a:chOff x="3312" y="2640"/>
            <a:chExt cx="96" cy="96"/>
          </a:xfrm>
        </p:grpSpPr>
        <p:sp>
          <p:nvSpPr>
            <p:cNvPr id="47" name="Line 3120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8" name="Line 3121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49" name="Line 3122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46" name="Group 3123"/>
          <p:cNvGrpSpPr>
            <a:grpSpLocks/>
          </p:cNvGrpSpPr>
          <p:nvPr/>
        </p:nvGrpSpPr>
        <p:grpSpPr bwMode="auto">
          <a:xfrm>
            <a:off x="5306888" y="5746576"/>
            <a:ext cx="228600" cy="152400"/>
            <a:chOff x="3312" y="2640"/>
            <a:chExt cx="96" cy="96"/>
          </a:xfrm>
        </p:grpSpPr>
        <p:sp>
          <p:nvSpPr>
            <p:cNvPr id="51" name="Line 3124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2" name="Line 3125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3" name="Line 3126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0" name="Group 3127"/>
          <p:cNvGrpSpPr>
            <a:grpSpLocks/>
          </p:cNvGrpSpPr>
          <p:nvPr/>
        </p:nvGrpSpPr>
        <p:grpSpPr bwMode="auto">
          <a:xfrm>
            <a:off x="6221288" y="3905200"/>
            <a:ext cx="228600" cy="152400"/>
            <a:chOff x="3312" y="2640"/>
            <a:chExt cx="96" cy="96"/>
          </a:xfrm>
        </p:grpSpPr>
        <p:sp>
          <p:nvSpPr>
            <p:cNvPr id="55" name="Line 3128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6" name="Line 3129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57" name="Line 3130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grpSp>
        <p:nvGrpSpPr>
          <p:cNvPr id="54" name="Group 3139"/>
          <p:cNvGrpSpPr>
            <a:grpSpLocks/>
          </p:cNvGrpSpPr>
          <p:nvPr/>
        </p:nvGrpSpPr>
        <p:grpSpPr bwMode="auto">
          <a:xfrm>
            <a:off x="6221288" y="5746576"/>
            <a:ext cx="228600" cy="152400"/>
            <a:chOff x="3312" y="2640"/>
            <a:chExt cx="96" cy="96"/>
          </a:xfrm>
        </p:grpSpPr>
        <p:sp>
          <p:nvSpPr>
            <p:cNvPr id="59" name="Line 3140"/>
            <p:cNvSpPr>
              <a:spLocks noChangeShapeType="1"/>
            </p:cNvSpPr>
            <p:nvPr/>
          </p:nvSpPr>
          <p:spPr bwMode="auto">
            <a:xfrm>
              <a:off x="3312" y="26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60" name="Line 3141"/>
            <p:cNvSpPr>
              <a:spLocks noChangeShapeType="1"/>
            </p:cNvSpPr>
            <p:nvPr/>
          </p:nvSpPr>
          <p:spPr bwMode="auto">
            <a:xfrm>
              <a:off x="3312" y="26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  <p:sp>
          <p:nvSpPr>
            <p:cNvPr id="61" name="Line 3142"/>
            <p:cNvSpPr>
              <a:spLocks noChangeShapeType="1"/>
            </p:cNvSpPr>
            <p:nvPr/>
          </p:nvSpPr>
          <p:spPr bwMode="auto">
            <a:xfrm>
              <a:off x="3312" y="27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s-VE"/>
            </a:p>
          </p:txBody>
        </p:sp>
      </p:grpSp>
      <p:sp>
        <p:nvSpPr>
          <p:cNvPr id="65" name="64 CuadroTexto"/>
          <p:cNvSpPr txBox="1"/>
          <p:nvPr/>
        </p:nvSpPr>
        <p:spPr>
          <a:xfrm>
            <a:off x="107504" y="303039"/>
            <a:ext cx="889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4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Liquido por debajo del tope del </a:t>
            </a:r>
            <a:r>
              <a:rPr lang="es-VE" sz="24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liner</a:t>
            </a:r>
            <a:r>
              <a:rPr lang="es-VE" sz="24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de las perforaciones.</a:t>
            </a:r>
            <a:endParaRPr lang="es-VE"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7" name="66 Conector recto"/>
          <p:cNvCxnSpPr/>
          <p:nvPr/>
        </p:nvCxnSpPr>
        <p:spPr>
          <a:xfrm>
            <a:off x="228600" y="3329136"/>
            <a:ext cx="32403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"/>
          <p:cNvCxnSpPr/>
          <p:nvPr/>
        </p:nvCxnSpPr>
        <p:spPr>
          <a:xfrm>
            <a:off x="228600" y="4913312"/>
            <a:ext cx="32403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>
            <a:off x="228600" y="3962460"/>
            <a:ext cx="324036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"/>
          <p:cNvCxnSpPr/>
          <p:nvPr/>
        </p:nvCxnSpPr>
        <p:spPr>
          <a:xfrm flipV="1">
            <a:off x="35496" y="1340768"/>
            <a:ext cx="3456384" cy="16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 de flecha"/>
          <p:cNvCxnSpPr/>
          <p:nvPr/>
        </p:nvCxnSpPr>
        <p:spPr>
          <a:xfrm rot="16200000" flipH="1">
            <a:off x="-735936" y="2225522"/>
            <a:ext cx="2000140" cy="26279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73 CuadroTexto"/>
          <p:cNvSpPr txBox="1"/>
          <p:nvPr/>
        </p:nvSpPr>
        <p:spPr>
          <a:xfrm>
            <a:off x="-36512" y="1037988"/>
            <a:ext cx="2606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1400" dirty="0" smtClean="0"/>
              <a:t>0       6   8  10  11  12   14    16</a:t>
            </a:r>
            <a:endParaRPr lang="es-VE" sz="1400" dirty="0"/>
          </a:p>
        </p:txBody>
      </p:sp>
      <p:cxnSp>
        <p:nvCxnSpPr>
          <p:cNvPr id="76" name="75 Conector recto de flecha"/>
          <p:cNvCxnSpPr/>
          <p:nvPr/>
        </p:nvCxnSpPr>
        <p:spPr>
          <a:xfrm>
            <a:off x="251520" y="908720"/>
            <a:ext cx="324036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76 CuadroTexto"/>
          <p:cNvSpPr txBox="1"/>
          <p:nvPr/>
        </p:nvSpPr>
        <p:spPr>
          <a:xfrm>
            <a:off x="137000" y="672951"/>
            <a:ext cx="774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1400" dirty="0" smtClean="0"/>
              <a:t>Tiempo</a:t>
            </a:r>
            <a:endParaRPr lang="es-VE" sz="1400" dirty="0"/>
          </a:p>
        </p:txBody>
      </p:sp>
      <p:cxnSp>
        <p:nvCxnSpPr>
          <p:cNvPr id="79" name="78 Conector recto de flecha"/>
          <p:cNvCxnSpPr/>
          <p:nvPr/>
        </p:nvCxnSpPr>
        <p:spPr>
          <a:xfrm rot="5400000" flipH="1" flipV="1">
            <a:off x="-504564" y="2240868"/>
            <a:ext cx="2016224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87 Conector recto de flecha"/>
          <p:cNvCxnSpPr/>
          <p:nvPr/>
        </p:nvCxnSpPr>
        <p:spPr>
          <a:xfrm rot="5400000" flipH="1" flipV="1">
            <a:off x="-617342" y="2445560"/>
            <a:ext cx="2556000" cy="360000"/>
          </a:xfrm>
          <a:prstGeom prst="straightConnector1">
            <a:avLst/>
          </a:prstGeom>
          <a:ln w="28575">
            <a:solidFill>
              <a:srgbClr val="FFFF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93 Conector recto de flecha"/>
          <p:cNvCxnSpPr/>
          <p:nvPr/>
        </p:nvCxnSpPr>
        <p:spPr>
          <a:xfrm rot="16200000" flipH="1">
            <a:off x="107504" y="3645024"/>
            <a:ext cx="648072" cy="7200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95 Conector recto de flecha"/>
          <p:cNvCxnSpPr/>
          <p:nvPr/>
        </p:nvCxnSpPr>
        <p:spPr>
          <a:xfrm rot="16200000" flipH="1">
            <a:off x="54409" y="4346190"/>
            <a:ext cx="978158" cy="1518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99 Conector recto de flecha"/>
          <p:cNvCxnSpPr/>
          <p:nvPr/>
        </p:nvCxnSpPr>
        <p:spPr>
          <a:xfrm rot="5400000" flipH="1" flipV="1">
            <a:off x="-756592" y="2780928"/>
            <a:ext cx="3528392" cy="6480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102 Conector recto de flecha"/>
          <p:cNvCxnSpPr/>
          <p:nvPr/>
        </p:nvCxnSpPr>
        <p:spPr>
          <a:xfrm rot="16200000" flipH="1">
            <a:off x="331768" y="3638516"/>
            <a:ext cx="576064" cy="72008"/>
          </a:xfrm>
          <a:prstGeom prst="straightConnector1">
            <a:avLst/>
          </a:prstGeom>
          <a:ln w="28575">
            <a:solidFill>
              <a:srgbClr val="FFFF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104 Conector recto de flecha"/>
          <p:cNvCxnSpPr/>
          <p:nvPr/>
        </p:nvCxnSpPr>
        <p:spPr>
          <a:xfrm rot="5400000" flipH="1" flipV="1">
            <a:off x="-396553" y="2420889"/>
            <a:ext cx="2592290" cy="432048"/>
          </a:xfrm>
          <a:prstGeom prst="straightConnector1">
            <a:avLst/>
          </a:prstGeom>
          <a:ln w="28575">
            <a:solidFill>
              <a:srgbClr val="FFFF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121 Grupo"/>
          <p:cNvGrpSpPr/>
          <p:nvPr/>
        </p:nvGrpSpPr>
        <p:grpSpPr>
          <a:xfrm>
            <a:off x="7782864" y="1707976"/>
            <a:ext cx="661088" cy="1771096"/>
            <a:chOff x="7782864" y="1707976"/>
            <a:chExt cx="661088" cy="1771096"/>
          </a:xfrm>
        </p:grpSpPr>
        <p:cxnSp>
          <p:nvCxnSpPr>
            <p:cNvPr id="119" name="118 Conector recto"/>
            <p:cNvCxnSpPr>
              <a:stCxn id="42" idx="4"/>
            </p:cNvCxnSpPr>
            <p:nvPr/>
          </p:nvCxnSpPr>
          <p:spPr>
            <a:xfrm flipH="1">
              <a:off x="8200103" y="1707976"/>
              <a:ext cx="2385" cy="1440000"/>
            </a:xfrm>
            <a:prstGeom prst="line">
              <a:avLst/>
            </a:prstGeom>
            <a:noFill/>
            <a:ln w="254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" name="Freeform 3117"/>
            <p:cNvSpPr>
              <a:spLocks/>
            </p:cNvSpPr>
            <p:nvPr/>
          </p:nvSpPr>
          <p:spPr bwMode="auto">
            <a:xfrm>
              <a:off x="7782864" y="3109740"/>
              <a:ext cx="661088" cy="369332"/>
            </a:xfrm>
            <a:custGeom>
              <a:avLst/>
              <a:gdLst>
                <a:gd name="T0" fmla="*/ 328 w 536"/>
                <a:gd name="T1" fmla="*/ 0 h 216"/>
                <a:gd name="T2" fmla="*/ 328 w 536"/>
                <a:gd name="T3" fmla="*/ 56 h 216"/>
                <a:gd name="T4" fmla="*/ 0 w 536"/>
                <a:gd name="T5" fmla="*/ 120 h 216"/>
                <a:gd name="T6" fmla="*/ 536 w 536"/>
                <a:gd name="T7" fmla="*/ 168 h 216"/>
                <a:gd name="T8" fmla="*/ 336 w 536"/>
                <a:gd name="T9" fmla="*/ 216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6"/>
                <a:gd name="T16" fmla="*/ 0 h 216"/>
                <a:gd name="T17" fmla="*/ 536 w 536"/>
                <a:gd name="T18" fmla="*/ 216 h 2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6" h="216">
                  <a:moveTo>
                    <a:pt x="328" y="0"/>
                  </a:moveTo>
                  <a:cubicBezTo>
                    <a:pt x="328" y="19"/>
                    <a:pt x="328" y="37"/>
                    <a:pt x="328" y="56"/>
                  </a:cubicBezTo>
                  <a:lnTo>
                    <a:pt x="0" y="120"/>
                  </a:lnTo>
                  <a:lnTo>
                    <a:pt x="536" y="168"/>
                  </a:lnTo>
                  <a:lnTo>
                    <a:pt x="336" y="216"/>
                  </a:lnTo>
                </a:path>
              </a:pathLst>
            </a:custGeom>
            <a:noFill/>
            <a:ln w="254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endParaRPr lang="es-VE"/>
            </a:p>
          </p:txBody>
        </p:sp>
      </p:grpSp>
      <p:sp>
        <p:nvSpPr>
          <p:cNvPr id="125" name="124 CuadroTexto"/>
          <p:cNvSpPr txBox="1"/>
          <p:nvPr/>
        </p:nvSpPr>
        <p:spPr>
          <a:xfrm>
            <a:off x="6752444" y="1902084"/>
            <a:ext cx="354584" cy="335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VE" sz="1200" dirty="0" smtClean="0"/>
              <a:t>02</a:t>
            </a:r>
          </a:p>
        </p:txBody>
      </p:sp>
      <p:sp>
        <p:nvSpPr>
          <p:cNvPr id="126" name="125 CuadroTexto"/>
          <p:cNvSpPr txBox="1"/>
          <p:nvPr/>
        </p:nvSpPr>
        <p:spPr>
          <a:xfrm>
            <a:off x="6746988" y="2517780"/>
            <a:ext cx="354584" cy="335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VE" sz="1200" dirty="0" smtClean="0"/>
              <a:t>04</a:t>
            </a:r>
          </a:p>
        </p:txBody>
      </p:sp>
      <p:sp>
        <p:nvSpPr>
          <p:cNvPr id="127" name="126 CuadroTexto"/>
          <p:cNvSpPr txBox="1"/>
          <p:nvPr/>
        </p:nvSpPr>
        <p:spPr>
          <a:xfrm>
            <a:off x="6761736" y="3106860"/>
            <a:ext cx="354584" cy="335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VE" sz="1200" dirty="0" smtClean="0"/>
              <a:t>06</a:t>
            </a:r>
          </a:p>
        </p:txBody>
      </p:sp>
      <p:sp>
        <p:nvSpPr>
          <p:cNvPr id="128" name="127 CuadroTexto"/>
          <p:cNvSpPr txBox="1"/>
          <p:nvPr/>
        </p:nvSpPr>
        <p:spPr>
          <a:xfrm>
            <a:off x="6761736" y="3741916"/>
            <a:ext cx="354584" cy="335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VE" sz="1200" dirty="0" smtClean="0"/>
              <a:t>08</a:t>
            </a:r>
          </a:p>
        </p:txBody>
      </p:sp>
      <p:sp>
        <p:nvSpPr>
          <p:cNvPr id="129" name="128 CuadroTexto"/>
          <p:cNvSpPr txBox="1"/>
          <p:nvPr/>
        </p:nvSpPr>
        <p:spPr>
          <a:xfrm>
            <a:off x="6760004" y="4360492"/>
            <a:ext cx="354584" cy="335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VE" sz="1200" dirty="0" smtClean="0"/>
              <a:t>10</a:t>
            </a:r>
          </a:p>
        </p:txBody>
      </p:sp>
      <p:sp>
        <p:nvSpPr>
          <p:cNvPr id="130" name="129 CuadroTexto"/>
          <p:cNvSpPr txBox="1"/>
          <p:nvPr/>
        </p:nvSpPr>
        <p:spPr>
          <a:xfrm>
            <a:off x="6760004" y="4980800"/>
            <a:ext cx="354584" cy="335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VE" sz="1200" dirty="0" smtClean="0"/>
              <a:t>12</a:t>
            </a:r>
          </a:p>
        </p:txBody>
      </p:sp>
      <p:sp>
        <p:nvSpPr>
          <p:cNvPr id="131" name="130 CuadroTexto"/>
          <p:cNvSpPr txBox="1"/>
          <p:nvPr/>
        </p:nvSpPr>
        <p:spPr>
          <a:xfrm>
            <a:off x="6745256" y="5599376"/>
            <a:ext cx="354584" cy="335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VE" sz="1200" dirty="0" smtClean="0"/>
              <a:t>14</a:t>
            </a:r>
          </a:p>
        </p:txBody>
      </p:sp>
      <p:sp>
        <p:nvSpPr>
          <p:cNvPr id="132" name="131 CuadroTexto"/>
          <p:cNvSpPr txBox="1"/>
          <p:nvPr/>
        </p:nvSpPr>
        <p:spPr>
          <a:xfrm>
            <a:off x="6761736" y="6237312"/>
            <a:ext cx="354584" cy="335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VE" sz="1200" dirty="0" smtClean="0"/>
              <a:t>16</a:t>
            </a:r>
          </a:p>
        </p:txBody>
      </p:sp>
      <p:sp>
        <p:nvSpPr>
          <p:cNvPr id="135" name="134 Forma libre"/>
          <p:cNvSpPr/>
          <p:nvPr/>
        </p:nvSpPr>
        <p:spPr>
          <a:xfrm>
            <a:off x="7755101" y="3451122"/>
            <a:ext cx="864096" cy="1172517"/>
          </a:xfrm>
          <a:custGeom>
            <a:avLst/>
            <a:gdLst>
              <a:gd name="connsiteX0" fmla="*/ 250722 w 368709"/>
              <a:gd name="connsiteY0" fmla="*/ 0 h 1120878"/>
              <a:gd name="connsiteX1" fmla="*/ 176980 w 368709"/>
              <a:gd name="connsiteY1" fmla="*/ 44246 h 1120878"/>
              <a:gd name="connsiteX2" fmla="*/ 176980 w 368709"/>
              <a:gd name="connsiteY2" fmla="*/ 412955 h 1120878"/>
              <a:gd name="connsiteX3" fmla="*/ 368709 w 368709"/>
              <a:gd name="connsiteY3" fmla="*/ 471949 h 1120878"/>
              <a:gd name="connsiteX4" fmla="*/ 0 w 368709"/>
              <a:gd name="connsiteY4" fmla="*/ 501446 h 1120878"/>
              <a:gd name="connsiteX5" fmla="*/ 176980 w 368709"/>
              <a:gd name="connsiteY5" fmla="*/ 545691 h 1120878"/>
              <a:gd name="connsiteX6" fmla="*/ 176980 w 368709"/>
              <a:gd name="connsiteY6" fmla="*/ 988142 h 1120878"/>
              <a:gd name="connsiteX7" fmla="*/ 44245 w 368709"/>
              <a:gd name="connsiteY7" fmla="*/ 1047136 h 1120878"/>
              <a:gd name="connsiteX8" fmla="*/ 280219 w 368709"/>
              <a:gd name="connsiteY8" fmla="*/ 1061884 h 1120878"/>
              <a:gd name="connsiteX9" fmla="*/ 132735 w 368709"/>
              <a:gd name="connsiteY9" fmla="*/ 1120878 h 1120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8709" h="1120878">
                <a:moveTo>
                  <a:pt x="250722" y="0"/>
                </a:moveTo>
                <a:lnTo>
                  <a:pt x="176980" y="44246"/>
                </a:lnTo>
                <a:lnTo>
                  <a:pt x="176980" y="412955"/>
                </a:lnTo>
                <a:lnTo>
                  <a:pt x="368709" y="471949"/>
                </a:lnTo>
                <a:lnTo>
                  <a:pt x="0" y="501446"/>
                </a:lnTo>
                <a:lnTo>
                  <a:pt x="176980" y="545691"/>
                </a:lnTo>
                <a:lnTo>
                  <a:pt x="176980" y="988142"/>
                </a:lnTo>
                <a:lnTo>
                  <a:pt x="44245" y="1047136"/>
                </a:lnTo>
                <a:lnTo>
                  <a:pt x="280219" y="1061884"/>
                </a:lnTo>
                <a:lnTo>
                  <a:pt x="132735" y="1120878"/>
                </a:lnTo>
              </a:path>
            </a:pathLst>
          </a:cu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36" name="135 Forma libre"/>
          <p:cNvSpPr/>
          <p:nvPr/>
        </p:nvSpPr>
        <p:spPr>
          <a:xfrm>
            <a:off x="7816644" y="4645742"/>
            <a:ext cx="575187" cy="383458"/>
          </a:xfrm>
          <a:custGeom>
            <a:avLst/>
            <a:gdLst>
              <a:gd name="connsiteX0" fmla="*/ 294968 w 575187"/>
              <a:gd name="connsiteY0" fmla="*/ 0 h 383458"/>
              <a:gd name="connsiteX1" fmla="*/ 294968 w 575187"/>
              <a:gd name="connsiteY1" fmla="*/ 176981 h 383458"/>
              <a:gd name="connsiteX2" fmla="*/ 0 w 575187"/>
              <a:gd name="connsiteY2" fmla="*/ 235974 h 383458"/>
              <a:gd name="connsiteX3" fmla="*/ 575187 w 575187"/>
              <a:gd name="connsiteY3" fmla="*/ 280219 h 383458"/>
              <a:gd name="connsiteX4" fmla="*/ 280220 w 575187"/>
              <a:gd name="connsiteY4" fmla="*/ 353961 h 383458"/>
              <a:gd name="connsiteX5" fmla="*/ 265471 w 575187"/>
              <a:gd name="connsiteY5" fmla="*/ 383458 h 383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187" h="383458">
                <a:moveTo>
                  <a:pt x="294968" y="0"/>
                </a:moveTo>
                <a:lnTo>
                  <a:pt x="294968" y="176981"/>
                </a:lnTo>
                <a:lnTo>
                  <a:pt x="0" y="235974"/>
                </a:lnTo>
                <a:lnTo>
                  <a:pt x="575187" y="280219"/>
                </a:lnTo>
                <a:lnTo>
                  <a:pt x="280220" y="353961"/>
                </a:lnTo>
                <a:lnTo>
                  <a:pt x="265471" y="383458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endParaRPr lang="es-VE"/>
          </a:p>
        </p:txBody>
      </p:sp>
      <p:cxnSp>
        <p:nvCxnSpPr>
          <p:cNvPr id="138" name="137 Conector recto de flecha"/>
          <p:cNvCxnSpPr/>
          <p:nvPr/>
        </p:nvCxnSpPr>
        <p:spPr>
          <a:xfrm rot="16200000" flipH="1">
            <a:off x="-108520" y="2132856"/>
            <a:ext cx="1944216" cy="5040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139 Conector recto de flecha"/>
          <p:cNvCxnSpPr/>
          <p:nvPr/>
        </p:nvCxnSpPr>
        <p:spPr>
          <a:xfrm rot="5400000" flipH="1" flipV="1">
            <a:off x="359532" y="2096852"/>
            <a:ext cx="1944216" cy="43204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140 Forma libre"/>
          <p:cNvSpPr/>
          <p:nvPr/>
        </p:nvSpPr>
        <p:spPr>
          <a:xfrm>
            <a:off x="7840124" y="4998428"/>
            <a:ext cx="461544" cy="369332"/>
          </a:xfrm>
          <a:custGeom>
            <a:avLst/>
            <a:gdLst>
              <a:gd name="connsiteX0" fmla="*/ 294968 w 575187"/>
              <a:gd name="connsiteY0" fmla="*/ 0 h 383458"/>
              <a:gd name="connsiteX1" fmla="*/ 294968 w 575187"/>
              <a:gd name="connsiteY1" fmla="*/ 176981 h 383458"/>
              <a:gd name="connsiteX2" fmla="*/ 0 w 575187"/>
              <a:gd name="connsiteY2" fmla="*/ 235974 h 383458"/>
              <a:gd name="connsiteX3" fmla="*/ 575187 w 575187"/>
              <a:gd name="connsiteY3" fmla="*/ 280219 h 383458"/>
              <a:gd name="connsiteX4" fmla="*/ 280220 w 575187"/>
              <a:gd name="connsiteY4" fmla="*/ 353961 h 383458"/>
              <a:gd name="connsiteX5" fmla="*/ 265471 w 575187"/>
              <a:gd name="connsiteY5" fmla="*/ 383458 h 383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187" h="383458">
                <a:moveTo>
                  <a:pt x="294968" y="0"/>
                </a:moveTo>
                <a:lnTo>
                  <a:pt x="294968" y="176981"/>
                </a:lnTo>
                <a:lnTo>
                  <a:pt x="0" y="235974"/>
                </a:lnTo>
                <a:lnTo>
                  <a:pt x="575187" y="280219"/>
                </a:lnTo>
                <a:lnTo>
                  <a:pt x="280220" y="353961"/>
                </a:lnTo>
                <a:lnTo>
                  <a:pt x="265471" y="383458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endParaRPr lang="es-VE"/>
          </a:p>
        </p:txBody>
      </p:sp>
      <p:cxnSp>
        <p:nvCxnSpPr>
          <p:cNvPr id="143" name="142 Conector recto de flecha"/>
          <p:cNvCxnSpPr/>
          <p:nvPr/>
        </p:nvCxnSpPr>
        <p:spPr>
          <a:xfrm rot="16200000" flipH="1">
            <a:off x="107504" y="2132856"/>
            <a:ext cx="1872208" cy="432048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144 Conector recto de flecha"/>
          <p:cNvCxnSpPr/>
          <p:nvPr/>
        </p:nvCxnSpPr>
        <p:spPr>
          <a:xfrm rot="5400000" flipH="1" flipV="1">
            <a:off x="575556" y="2024844"/>
            <a:ext cx="1944216" cy="576064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147 Conector recto de flecha"/>
          <p:cNvCxnSpPr/>
          <p:nvPr/>
        </p:nvCxnSpPr>
        <p:spPr>
          <a:xfrm rot="16200000" flipH="1">
            <a:off x="1022352" y="3537012"/>
            <a:ext cx="648072" cy="144016"/>
          </a:xfrm>
          <a:prstGeom prst="straightConnector1">
            <a:avLst/>
          </a:prstGeom>
          <a:ln w="28575">
            <a:solidFill>
              <a:srgbClr val="FFFF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149 Conector recto de flecha"/>
          <p:cNvCxnSpPr/>
          <p:nvPr/>
        </p:nvCxnSpPr>
        <p:spPr>
          <a:xfrm rot="5400000" flipH="1" flipV="1">
            <a:off x="539552" y="2204864"/>
            <a:ext cx="2592288" cy="864096"/>
          </a:xfrm>
          <a:prstGeom prst="straightConnector1">
            <a:avLst/>
          </a:prstGeom>
          <a:ln w="28575">
            <a:solidFill>
              <a:srgbClr val="FFFF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151 Conector recto de flecha"/>
          <p:cNvCxnSpPr/>
          <p:nvPr/>
        </p:nvCxnSpPr>
        <p:spPr>
          <a:xfrm rot="16200000" flipH="1">
            <a:off x="474052" y="4401108"/>
            <a:ext cx="936104" cy="1440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155 Conector recto de flecha"/>
          <p:cNvCxnSpPr/>
          <p:nvPr/>
        </p:nvCxnSpPr>
        <p:spPr>
          <a:xfrm rot="5400000" flipH="1" flipV="1">
            <a:off x="-296961" y="2728651"/>
            <a:ext cx="3468063" cy="8129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162 Grupo"/>
          <p:cNvGrpSpPr/>
          <p:nvPr/>
        </p:nvGrpSpPr>
        <p:grpSpPr>
          <a:xfrm>
            <a:off x="7840124" y="5367760"/>
            <a:ext cx="461544" cy="734828"/>
            <a:chOff x="7840124" y="5367760"/>
            <a:chExt cx="461544" cy="734828"/>
          </a:xfrm>
        </p:grpSpPr>
        <p:sp>
          <p:nvSpPr>
            <p:cNvPr id="158" name="157 Forma libre"/>
            <p:cNvSpPr/>
            <p:nvPr/>
          </p:nvSpPr>
          <p:spPr>
            <a:xfrm flipV="1">
              <a:off x="7840124" y="5733256"/>
              <a:ext cx="461544" cy="369332"/>
            </a:xfrm>
            <a:custGeom>
              <a:avLst/>
              <a:gdLst>
                <a:gd name="connsiteX0" fmla="*/ 294968 w 575187"/>
                <a:gd name="connsiteY0" fmla="*/ 0 h 383458"/>
                <a:gd name="connsiteX1" fmla="*/ 294968 w 575187"/>
                <a:gd name="connsiteY1" fmla="*/ 176981 h 383458"/>
                <a:gd name="connsiteX2" fmla="*/ 0 w 575187"/>
                <a:gd name="connsiteY2" fmla="*/ 235974 h 383458"/>
                <a:gd name="connsiteX3" fmla="*/ 575187 w 575187"/>
                <a:gd name="connsiteY3" fmla="*/ 280219 h 383458"/>
                <a:gd name="connsiteX4" fmla="*/ 280220 w 575187"/>
                <a:gd name="connsiteY4" fmla="*/ 353961 h 383458"/>
                <a:gd name="connsiteX5" fmla="*/ 265471 w 575187"/>
                <a:gd name="connsiteY5" fmla="*/ 383458 h 38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5187" h="383458">
                  <a:moveTo>
                    <a:pt x="294968" y="0"/>
                  </a:moveTo>
                  <a:lnTo>
                    <a:pt x="294968" y="176981"/>
                  </a:lnTo>
                  <a:lnTo>
                    <a:pt x="0" y="235974"/>
                  </a:lnTo>
                  <a:lnTo>
                    <a:pt x="575187" y="280219"/>
                  </a:lnTo>
                  <a:lnTo>
                    <a:pt x="280220" y="353961"/>
                  </a:lnTo>
                  <a:lnTo>
                    <a:pt x="265471" y="383458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endParaRPr lang="es-VE"/>
            </a:p>
          </p:txBody>
        </p:sp>
        <p:cxnSp>
          <p:nvCxnSpPr>
            <p:cNvPr id="162" name="161 Conector recto"/>
            <p:cNvCxnSpPr>
              <a:stCxn id="141" idx="5"/>
              <a:endCxn id="158" idx="5"/>
            </p:cNvCxnSpPr>
            <p:nvPr/>
          </p:nvCxnSpPr>
          <p:spPr>
            <a:xfrm>
              <a:off x="8053144" y="5367760"/>
              <a:ext cx="0" cy="3654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4" name="163 Forma libre"/>
          <p:cNvSpPr/>
          <p:nvPr/>
        </p:nvSpPr>
        <p:spPr>
          <a:xfrm>
            <a:off x="7860890" y="6093296"/>
            <a:ext cx="368710" cy="792465"/>
          </a:xfrm>
          <a:custGeom>
            <a:avLst/>
            <a:gdLst>
              <a:gd name="connsiteX0" fmla="*/ 221226 w 368710"/>
              <a:gd name="connsiteY0" fmla="*/ 0 h 634181"/>
              <a:gd name="connsiteX1" fmla="*/ 221226 w 368710"/>
              <a:gd name="connsiteY1" fmla="*/ 221226 h 634181"/>
              <a:gd name="connsiteX2" fmla="*/ 0 w 368710"/>
              <a:gd name="connsiteY2" fmla="*/ 280220 h 634181"/>
              <a:gd name="connsiteX3" fmla="*/ 368710 w 368710"/>
              <a:gd name="connsiteY3" fmla="*/ 324465 h 634181"/>
              <a:gd name="connsiteX4" fmla="*/ 191729 w 368710"/>
              <a:gd name="connsiteY4" fmla="*/ 383458 h 634181"/>
              <a:gd name="connsiteX5" fmla="*/ 176981 w 368710"/>
              <a:gd name="connsiteY5" fmla="*/ 619433 h 634181"/>
              <a:gd name="connsiteX6" fmla="*/ 176981 w 368710"/>
              <a:gd name="connsiteY6" fmla="*/ 634181 h 634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8710" h="634181">
                <a:moveTo>
                  <a:pt x="221226" y="0"/>
                </a:moveTo>
                <a:lnTo>
                  <a:pt x="221226" y="221226"/>
                </a:lnTo>
                <a:lnTo>
                  <a:pt x="0" y="280220"/>
                </a:lnTo>
                <a:lnTo>
                  <a:pt x="368710" y="324465"/>
                </a:lnTo>
                <a:lnTo>
                  <a:pt x="191729" y="383458"/>
                </a:lnTo>
                <a:lnTo>
                  <a:pt x="176981" y="619433"/>
                </a:lnTo>
                <a:lnTo>
                  <a:pt x="176981" y="634181"/>
                </a:lnTo>
              </a:path>
            </a:pathLst>
          </a:cu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36" grpId="0" animBg="1"/>
      <p:bldP spid="141" grpId="0" animBg="1"/>
      <p:bldP spid="16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428596" y="913139"/>
            <a:ext cx="4480714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s-ES" sz="6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Preguntas?</a:t>
            </a:r>
            <a:endParaRPr lang="es-ES" sz="6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3" name="Picture 3" descr="PE01561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0298" y="2428868"/>
            <a:ext cx="4583113" cy="3041650"/>
          </a:xfrm>
          <a:prstGeom prst="rect">
            <a:avLst/>
          </a:prstGeom>
          <a:noFill/>
        </p:spPr>
      </p:pic>
      <p:pic>
        <p:nvPicPr>
          <p:cNvPr id="4" name="Picture 1027" descr="Echomet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59680" y="0"/>
            <a:ext cx="1784320" cy="350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416</TotalTime>
  <Words>487</Words>
  <Application>Microsoft Office PowerPoint</Application>
  <PresentationFormat>Presentación en pantalla (4:3)</PresentationFormat>
  <Paragraphs>166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Technic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</vt:vector>
  </TitlesOfParts>
  <Company>UPCO de Veneuela, S.A.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Dimas Reyes</dc:creator>
  <cp:lastModifiedBy>Gustavo Fernandez</cp:lastModifiedBy>
  <cp:revision>80</cp:revision>
  <dcterms:created xsi:type="dcterms:W3CDTF">2009-05-29T18:16:37Z</dcterms:created>
  <dcterms:modified xsi:type="dcterms:W3CDTF">2011-05-24T12:32:57Z</dcterms:modified>
</cp:coreProperties>
</file>