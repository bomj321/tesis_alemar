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3" r:id="rId3"/>
    <p:sldId id="274" r:id="rId4"/>
    <p:sldId id="275" r:id="rId5"/>
    <p:sldId id="276" r:id="rId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3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27" descr="Echome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1796" y="304800"/>
            <a:ext cx="6070600" cy="1193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 Box 23"/>
          <p:cNvSpPr txBox="1">
            <a:spLocks noChangeArrowheads="1"/>
          </p:cNvSpPr>
          <p:nvPr/>
        </p:nvSpPr>
        <p:spPr bwMode="auto">
          <a:xfrm>
            <a:off x="684213" y="2507646"/>
            <a:ext cx="7848600" cy="144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ES_tradnl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Ejercicio de </a:t>
            </a:r>
            <a:r>
              <a:rPr lang="es-ES_tradnl" sz="44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Potencial de Producción</a:t>
            </a:r>
            <a:endParaRPr lang="es-ES_tradnl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Line 25"/>
          <p:cNvSpPr>
            <a:spLocks noChangeShapeType="1"/>
          </p:cNvSpPr>
          <p:nvPr/>
        </p:nvSpPr>
        <p:spPr bwMode="auto">
          <a:xfrm>
            <a:off x="738675" y="3929066"/>
            <a:ext cx="7705725" cy="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27" descr="Echome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9680" y="0"/>
            <a:ext cx="1784320" cy="3508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/>
          <p:cNvSpPr txBox="1"/>
          <p:nvPr/>
        </p:nvSpPr>
        <p:spPr>
          <a:xfrm>
            <a:off x="285720" y="2077042"/>
            <a:ext cx="864399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2800" dirty="0" smtClean="0"/>
              <a:t>Dos pozos, a 5000 pies de profundidad con una SBHP de 1000 psi. La bomba está en la formación. ¿Cuál de los dos pozos se puede ayudar a conseguir más a una mayor producción? </a:t>
            </a:r>
          </a:p>
          <a:p>
            <a:endParaRPr lang="es-VE" sz="2800" dirty="0" smtClean="0"/>
          </a:p>
          <a:p>
            <a:r>
              <a:rPr lang="es-VE" sz="2800" u="sng" dirty="0" smtClean="0"/>
              <a:t>Pozo 01</a:t>
            </a:r>
            <a:r>
              <a:rPr lang="es-VE" sz="2800" dirty="0" smtClean="0"/>
              <a:t>, tiene 35 psi en presión de casing y 1000 Ft de liquido libre de gas sobre la bomba?</a:t>
            </a:r>
          </a:p>
          <a:p>
            <a:endParaRPr lang="es-VE" sz="2800" u="sng" dirty="0" smtClean="0"/>
          </a:p>
          <a:p>
            <a:r>
              <a:rPr lang="es-VE" sz="2800" u="sng" dirty="0" smtClean="0"/>
              <a:t>Pozo 02</a:t>
            </a:r>
            <a:r>
              <a:rPr lang="es-VE" sz="2800" dirty="0" smtClean="0"/>
              <a:t>, tiene 300 psi en presión de casing y 100 Ft de liquido libre de gas sobre la bomba?</a:t>
            </a:r>
          </a:p>
          <a:p>
            <a:endParaRPr lang="es-VE" sz="2800" dirty="0" smtClean="0"/>
          </a:p>
          <a:p>
            <a:endParaRPr lang="es-VE" sz="2800" dirty="0" smtClean="0"/>
          </a:p>
          <a:p>
            <a:endParaRPr lang="es-VE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428604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44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¿Cuál de los pozos tiene el mayor potencial de producción?</a:t>
            </a:r>
            <a:endParaRPr lang="es-VE" sz="44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27" descr="Echome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9680" y="0"/>
            <a:ext cx="1784320" cy="3508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990600"/>
            <a:ext cx="1524000" cy="5486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VE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5943600" y="1066800"/>
            <a:ext cx="1524000" cy="5486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VE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524000" y="3962400"/>
            <a:ext cx="1524000" cy="2514600"/>
          </a:xfrm>
          <a:prstGeom prst="rect">
            <a:avLst/>
          </a:prstGeom>
          <a:solidFill>
            <a:srgbClr val="59B94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VE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981200" y="762000"/>
            <a:ext cx="457200" cy="5181600"/>
          </a:xfrm>
          <a:prstGeom prst="rect">
            <a:avLst/>
          </a:prstGeom>
          <a:solidFill>
            <a:srgbClr val="59B94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VE"/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5943600" y="5715000"/>
            <a:ext cx="1524000" cy="838200"/>
          </a:xfrm>
          <a:prstGeom prst="rect">
            <a:avLst/>
          </a:prstGeom>
          <a:solidFill>
            <a:srgbClr val="59B94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VE"/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auto">
          <a:xfrm>
            <a:off x="2667000" y="45720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VE" dirty="0">
              <a:solidFill>
                <a:srgbClr val="FF0000"/>
              </a:solidFill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819400" y="762000"/>
            <a:ext cx="762000" cy="336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b="1" dirty="0">
                <a:solidFill>
                  <a:srgbClr val="FF0000"/>
                </a:solidFill>
              </a:rPr>
              <a:t>35 </a:t>
            </a:r>
            <a:r>
              <a:rPr lang="en-US" sz="1600" b="1" dirty="0" smtClean="0">
                <a:solidFill>
                  <a:srgbClr val="FF0000"/>
                </a:solidFill>
              </a:rPr>
              <a:t>psi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11" name="AutoShape 11"/>
          <p:cNvSpPr>
            <a:spLocks/>
          </p:cNvSpPr>
          <p:nvPr/>
        </p:nvSpPr>
        <p:spPr bwMode="auto">
          <a:xfrm>
            <a:off x="3200400" y="3962400"/>
            <a:ext cx="609600" cy="1981200"/>
          </a:xfrm>
          <a:prstGeom prst="rightBrace">
            <a:avLst>
              <a:gd name="adj1" fmla="val 2708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VE"/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3810000" y="4953000"/>
            <a:ext cx="1201738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1000 </a:t>
            </a:r>
            <a:r>
              <a:rPr lang="en-US" dirty="0" smtClean="0"/>
              <a:t>ft</a:t>
            </a:r>
            <a:endParaRPr lang="en-US" dirty="0"/>
          </a:p>
        </p:txBody>
      </p:sp>
      <p:sp>
        <p:nvSpPr>
          <p:cNvPr id="13" name="Oval 13"/>
          <p:cNvSpPr>
            <a:spLocks noChangeArrowheads="1"/>
          </p:cNvSpPr>
          <p:nvPr/>
        </p:nvSpPr>
        <p:spPr bwMode="auto">
          <a:xfrm>
            <a:off x="7086600" y="68580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VE"/>
          </a:p>
        </p:txBody>
      </p:sp>
      <p:sp>
        <p:nvSpPr>
          <p:cNvPr id="14" name="AutoShape 14"/>
          <p:cNvSpPr>
            <a:spLocks/>
          </p:cNvSpPr>
          <p:nvPr/>
        </p:nvSpPr>
        <p:spPr bwMode="auto">
          <a:xfrm>
            <a:off x="7543800" y="5715000"/>
            <a:ext cx="381000" cy="381000"/>
          </a:xfrm>
          <a:prstGeom prst="rightBrace">
            <a:avLst>
              <a:gd name="adj1" fmla="val 8333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VE"/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7924800" y="5638800"/>
            <a:ext cx="1023938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100 </a:t>
            </a:r>
            <a:r>
              <a:rPr lang="en-US" dirty="0" smtClean="0"/>
              <a:t>ft</a:t>
            </a:r>
            <a:endParaRPr lang="en-US" dirty="0"/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6477000" y="838200"/>
            <a:ext cx="457200" cy="5181600"/>
          </a:xfrm>
          <a:prstGeom prst="rect">
            <a:avLst/>
          </a:prstGeom>
          <a:solidFill>
            <a:srgbClr val="59B949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s-VE"/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7072330" y="1000108"/>
            <a:ext cx="1052538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 dirty="0">
                <a:solidFill>
                  <a:srgbClr val="FF0000"/>
                </a:solidFill>
              </a:rPr>
              <a:t>300 </a:t>
            </a:r>
            <a:r>
              <a:rPr lang="en-US" b="1" dirty="0" smtClean="0">
                <a:solidFill>
                  <a:srgbClr val="FF0000"/>
                </a:solidFill>
              </a:rPr>
              <a:t>psi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18" name="Group 21"/>
          <p:cNvGrpSpPr>
            <a:grpSpLocks/>
          </p:cNvGrpSpPr>
          <p:nvPr/>
        </p:nvGrpSpPr>
        <p:grpSpPr bwMode="auto">
          <a:xfrm>
            <a:off x="5867400" y="6248400"/>
            <a:ext cx="152400" cy="228600"/>
            <a:chOff x="480" y="3360"/>
            <a:chExt cx="96" cy="144"/>
          </a:xfrm>
        </p:grpSpPr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480" y="336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VE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480" y="3408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VE"/>
            </a:p>
          </p:txBody>
        </p:sp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480" y="3456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VE"/>
            </a:p>
          </p:txBody>
        </p:sp>
        <p:sp>
          <p:nvSpPr>
            <p:cNvPr id="22" name="Line 20"/>
            <p:cNvSpPr>
              <a:spLocks noChangeShapeType="1"/>
            </p:cNvSpPr>
            <p:nvPr/>
          </p:nvSpPr>
          <p:spPr bwMode="auto">
            <a:xfrm>
              <a:off x="480" y="3504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VE"/>
            </a:p>
          </p:txBody>
        </p:sp>
      </p:grpSp>
      <p:grpSp>
        <p:nvGrpSpPr>
          <p:cNvPr id="23" name="Group 22"/>
          <p:cNvGrpSpPr>
            <a:grpSpLocks/>
          </p:cNvGrpSpPr>
          <p:nvPr/>
        </p:nvGrpSpPr>
        <p:grpSpPr bwMode="auto">
          <a:xfrm>
            <a:off x="7391400" y="6248400"/>
            <a:ext cx="152400" cy="228600"/>
            <a:chOff x="480" y="3360"/>
            <a:chExt cx="96" cy="144"/>
          </a:xfrm>
        </p:grpSpPr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480" y="336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VE"/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>
              <a:off x="480" y="3408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VE"/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480" y="3456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VE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480" y="3504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VE"/>
            </a:p>
          </p:txBody>
        </p:sp>
      </p:grpSp>
      <p:grpSp>
        <p:nvGrpSpPr>
          <p:cNvPr id="28" name="Group 27"/>
          <p:cNvGrpSpPr>
            <a:grpSpLocks/>
          </p:cNvGrpSpPr>
          <p:nvPr/>
        </p:nvGrpSpPr>
        <p:grpSpPr bwMode="auto">
          <a:xfrm>
            <a:off x="1447800" y="6172200"/>
            <a:ext cx="152400" cy="228600"/>
            <a:chOff x="480" y="3360"/>
            <a:chExt cx="96" cy="144"/>
          </a:xfrm>
        </p:grpSpPr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480" y="336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VE"/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480" y="3408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VE"/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480" y="3456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VE"/>
            </a:p>
          </p:txBody>
        </p:sp>
        <p:sp>
          <p:nvSpPr>
            <p:cNvPr id="32" name="Line 31"/>
            <p:cNvSpPr>
              <a:spLocks noChangeShapeType="1"/>
            </p:cNvSpPr>
            <p:nvPr/>
          </p:nvSpPr>
          <p:spPr bwMode="auto">
            <a:xfrm>
              <a:off x="480" y="3504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VE"/>
            </a:p>
          </p:txBody>
        </p:sp>
      </p:grpSp>
      <p:grpSp>
        <p:nvGrpSpPr>
          <p:cNvPr id="33" name="Group 32"/>
          <p:cNvGrpSpPr>
            <a:grpSpLocks/>
          </p:cNvGrpSpPr>
          <p:nvPr/>
        </p:nvGrpSpPr>
        <p:grpSpPr bwMode="auto">
          <a:xfrm>
            <a:off x="2971800" y="6172200"/>
            <a:ext cx="152400" cy="228600"/>
            <a:chOff x="480" y="3360"/>
            <a:chExt cx="96" cy="144"/>
          </a:xfrm>
        </p:grpSpPr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480" y="336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VE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>
              <a:off x="480" y="3408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VE"/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>
              <a:off x="480" y="3456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VE"/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>
              <a:off x="480" y="3504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endParaRPr lang="es-VE"/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1968148" y="357166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 smtClean="0"/>
              <a:t>01</a:t>
            </a:r>
            <a:endParaRPr lang="es-VE" sz="24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6445430" y="428604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VE" sz="2400" b="1" dirty="0" smtClean="0"/>
              <a:t>02</a:t>
            </a:r>
            <a:endParaRPr lang="es-VE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27" descr="Echome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59680" y="0"/>
            <a:ext cx="1784320" cy="3508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 Box 2053"/>
          <p:cNvSpPr txBox="1">
            <a:spLocks noChangeArrowheads="1"/>
          </p:cNvSpPr>
          <p:nvPr/>
        </p:nvSpPr>
        <p:spPr bwMode="auto">
          <a:xfrm>
            <a:off x="1258706" y="4953000"/>
            <a:ext cx="6858000" cy="1565275"/>
          </a:xfrm>
          <a:prstGeom prst="rect">
            <a:avLst/>
          </a:prstGeom>
          <a:solidFill>
            <a:srgbClr val="C0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VE" sz="24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Generalizando</a:t>
            </a:r>
          </a:p>
          <a:p>
            <a:pPr algn="ctr">
              <a:spcBef>
                <a:spcPct val="50000"/>
              </a:spcBef>
            </a:pPr>
            <a:r>
              <a:rPr lang="es-VE" sz="24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3 ft de columna de petróleo =  1 psi</a:t>
            </a:r>
          </a:p>
          <a:p>
            <a:pPr algn="ctr">
              <a:spcBef>
                <a:spcPct val="50000"/>
              </a:spcBef>
            </a:pPr>
            <a:r>
              <a:rPr lang="es-VE" sz="2400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2 ft de columna de salmuera = 1 psi</a:t>
            </a:r>
            <a:endParaRPr lang="es-VE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357166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40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 el calculo de Presiones</a:t>
            </a:r>
            <a:endParaRPr lang="es-VE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142844" y="1214422"/>
            <a:ext cx="4500594" cy="3600986"/>
          </a:xfrm>
          <a:prstGeom prst="rect">
            <a:avLst/>
          </a:prstGeom>
          <a:solidFill>
            <a:schemeClr val="tx1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VE" dirty="0" smtClean="0">
                <a:solidFill>
                  <a:schemeClr val="bg1"/>
                </a:solidFill>
              </a:rPr>
              <a:t>Gradiente del Agua, G</a:t>
            </a:r>
            <a:r>
              <a:rPr lang="es-VE" sz="1100" dirty="0" smtClean="0">
                <a:solidFill>
                  <a:schemeClr val="bg1"/>
                </a:solidFill>
              </a:rPr>
              <a:t>H</a:t>
            </a:r>
            <a:r>
              <a:rPr lang="es-VE" sz="700" dirty="0" smtClean="0">
                <a:solidFill>
                  <a:schemeClr val="bg1"/>
                </a:solidFill>
              </a:rPr>
              <a:t>2</a:t>
            </a:r>
            <a:r>
              <a:rPr lang="es-VE" sz="1100" dirty="0" smtClean="0">
                <a:solidFill>
                  <a:schemeClr val="bg1"/>
                </a:solidFill>
              </a:rPr>
              <a:t>O.</a:t>
            </a:r>
          </a:p>
          <a:p>
            <a:pPr algn="ctr"/>
            <a:endParaRPr lang="es-VE" dirty="0" smtClean="0">
              <a:solidFill>
                <a:schemeClr val="bg1"/>
              </a:solidFill>
            </a:endParaRPr>
          </a:p>
          <a:p>
            <a:pPr algn="ctr"/>
            <a:r>
              <a:rPr lang="es-VE" dirty="0" smtClean="0">
                <a:solidFill>
                  <a:schemeClr val="bg1"/>
                </a:solidFill>
              </a:rPr>
              <a:t>G</a:t>
            </a:r>
            <a:r>
              <a:rPr lang="es-VE" sz="1100" dirty="0" smtClean="0">
                <a:solidFill>
                  <a:schemeClr val="bg1"/>
                </a:solidFill>
              </a:rPr>
              <a:t>H</a:t>
            </a:r>
            <a:r>
              <a:rPr lang="es-VE" sz="800" dirty="0" smtClean="0">
                <a:solidFill>
                  <a:schemeClr val="bg1"/>
                </a:solidFill>
              </a:rPr>
              <a:t>2</a:t>
            </a:r>
            <a:r>
              <a:rPr lang="es-VE" sz="1100" dirty="0" smtClean="0">
                <a:solidFill>
                  <a:schemeClr val="bg1"/>
                </a:solidFill>
              </a:rPr>
              <a:t>O</a:t>
            </a:r>
            <a:r>
              <a:rPr lang="es-VE" dirty="0" smtClean="0">
                <a:solidFill>
                  <a:schemeClr val="bg1"/>
                </a:solidFill>
              </a:rPr>
              <a:t> = </a:t>
            </a:r>
            <a:r>
              <a:rPr lang="ar-AE" dirty="0" smtClean="0">
                <a:solidFill>
                  <a:schemeClr val="bg1"/>
                </a:solidFill>
              </a:rPr>
              <a:t>ﻻ</a:t>
            </a:r>
            <a:r>
              <a:rPr lang="es-VE" sz="1100" dirty="0" smtClean="0">
                <a:solidFill>
                  <a:schemeClr val="bg1"/>
                </a:solidFill>
              </a:rPr>
              <a:t>H2O</a:t>
            </a:r>
            <a:r>
              <a:rPr lang="es-VE" dirty="0" smtClean="0">
                <a:solidFill>
                  <a:schemeClr val="bg1"/>
                </a:solidFill>
              </a:rPr>
              <a:t> x 0.433 psi/ft</a:t>
            </a:r>
          </a:p>
          <a:p>
            <a:endParaRPr lang="es-VE" dirty="0" smtClean="0">
              <a:solidFill>
                <a:schemeClr val="bg1"/>
              </a:solidFill>
            </a:endParaRPr>
          </a:p>
          <a:p>
            <a:r>
              <a:rPr lang="es-VE" dirty="0" smtClean="0">
                <a:solidFill>
                  <a:schemeClr val="bg1"/>
                </a:solidFill>
              </a:rPr>
              <a:t>Presión de la Columna de Agua, </a:t>
            </a:r>
          </a:p>
          <a:p>
            <a:pPr algn="ctr"/>
            <a:endParaRPr lang="es-VE" dirty="0" smtClean="0">
              <a:solidFill>
                <a:schemeClr val="bg1"/>
              </a:solidFill>
            </a:endParaRPr>
          </a:p>
          <a:p>
            <a:pPr algn="ctr"/>
            <a:r>
              <a:rPr lang="es-VE" dirty="0" smtClean="0">
                <a:solidFill>
                  <a:schemeClr val="bg1"/>
                </a:solidFill>
              </a:rPr>
              <a:t>P</a:t>
            </a:r>
            <a:r>
              <a:rPr lang="es-VE" sz="1100" dirty="0" smtClean="0">
                <a:solidFill>
                  <a:schemeClr val="bg1"/>
                </a:solidFill>
              </a:rPr>
              <a:t>H2O </a:t>
            </a:r>
            <a:r>
              <a:rPr lang="es-VE" dirty="0" smtClean="0">
                <a:solidFill>
                  <a:schemeClr val="bg1"/>
                </a:solidFill>
              </a:rPr>
              <a:t>= G</a:t>
            </a:r>
            <a:r>
              <a:rPr lang="es-VE" sz="1100" dirty="0" smtClean="0">
                <a:solidFill>
                  <a:schemeClr val="bg1"/>
                </a:solidFill>
              </a:rPr>
              <a:t>H2O </a:t>
            </a:r>
            <a:r>
              <a:rPr lang="es-VE" dirty="0" smtClean="0">
                <a:solidFill>
                  <a:schemeClr val="bg1"/>
                </a:solidFill>
              </a:rPr>
              <a:t>x L</a:t>
            </a:r>
          </a:p>
          <a:p>
            <a:endParaRPr lang="es-VE" dirty="0" smtClean="0">
              <a:solidFill>
                <a:schemeClr val="bg1"/>
              </a:solidFill>
            </a:endParaRPr>
          </a:p>
          <a:p>
            <a:r>
              <a:rPr lang="es-VE" sz="1400" dirty="0" smtClean="0">
                <a:solidFill>
                  <a:schemeClr val="bg1"/>
                </a:solidFill>
              </a:rPr>
              <a:t>Donde:</a:t>
            </a:r>
          </a:p>
          <a:p>
            <a:r>
              <a:rPr lang="es-VE" sz="1400" dirty="0" smtClean="0">
                <a:solidFill>
                  <a:schemeClr val="bg1"/>
                </a:solidFill>
              </a:rPr>
              <a:t>L = Altura de la columna de agua, </a:t>
            </a:r>
            <a:r>
              <a:rPr lang="es-VE" sz="1400" dirty="0" err="1" smtClean="0">
                <a:solidFill>
                  <a:schemeClr val="bg1"/>
                </a:solidFill>
              </a:rPr>
              <a:t>Ft.</a:t>
            </a:r>
            <a:endParaRPr lang="es-VE" sz="1400" dirty="0" smtClean="0">
              <a:solidFill>
                <a:schemeClr val="bg1"/>
              </a:solidFill>
            </a:endParaRPr>
          </a:p>
          <a:p>
            <a:endParaRPr lang="es-VE" sz="1400" dirty="0" smtClean="0">
              <a:solidFill>
                <a:schemeClr val="bg1"/>
              </a:solidFill>
            </a:endParaRPr>
          </a:p>
          <a:p>
            <a:r>
              <a:rPr lang="es-VE" b="1" u="sng" dirty="0" smtClean="0">
                <a:solidFill>
                  <a:schemeClr val="bg1"/>
                </a:solidFill>
              </a:rPr>
              <a:t>Nota:</a:t>
            </a:r>
          </a:p>
          <a:p>
            <a:r>
              <a:rPr lang="es-VE" sz="1200" dirty="0" smtClean="0">
                <a:solidFill>
                  <a:schemeClr val="bg1"/>
                </a:solidFill>
              </a:rPr>
              <a:t>30pies de Petróleo generan una presión aproximada de 10psi.</a:t>
            </a:r>
          </a:p>
          <a:p>
            <a:r>
              <a:rPr lang="es-VE" sz="1200" dirty="0" smtClean="0">
                <a:solidFill>
                  <a:schemeClr val="bg1"/>
                </a:solidFill>
              </a:rPr>
              <a:t>20pies de Agua generan una presión aproximada de 10psi.</a:t>
            </a:r>
            <a:endParaRPr lang="es-VE" sz="1200" dirty="0">
              <a:solidFill>
                <a:schemeClr val="bg1"/>
              </a:solidFill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4697826" y="1214421"/>
            <a:ext cx="4339650" cy="360000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s-VE" dirty="0" smtClean="0">
                <a:solidFill>
                  <a:schemeClr val="bg1"/>
                </a:solidFill>
              </a:rPr>
              <a:t>Presión de la Columna de Gas, </a:t>
            </a:r>
            <a:r>
              <a:rPr lang="es-VE" dirty="0" err="1" smtClean="0">
                <a:solidFill>
                  <a:schemeClr val="bg1"/>
                </a:solidFill>
              </a:rPr>
              <a:t>Pcg.</a:t>
            </a:r>
            <a:endParaRPr lang="es-VE" dirty="0" smtClean="0">
              <a:solidFill>
                <a:schemeClr val="bg1"/>
              </a:solidFill>
            </a:endParaRPr>
          </a:p>
          <a:p>
            <a:endParaRPr lang="es-VE" dirty="0" smtClean="0">
              <a:solidFill>
                <a:schemeClr val="bg1"/>
              </a:solidFill>
            </a:endParaRPr>
          </a:p>
          <a:p>
            <a:r>
              <a:rPr lang="es-VE" dirty="0" err="1" smtClean="0">
                <a:solidFill>
                  <a:schemeClr val="bg1"/>
                </a:solidFill>
              </a:rPr>
              <a:t>Pcg</a:t>
            </a:r>
            <a:r>
              <a:rPr lang="es-VE" dirty="0" smtClean="0">
                <a:solidFill>
                  <a:schemeClr val="bg1"/>
                </a:solidFill>
              </a:rPr>
              <a:t> = </a:t>
            </a:r>
            <a:r>
              <a:rPr lang="es-VE" u="sng" dirty="0" err="1" smtClean="0">
                <a:solidFill>
                  <a:schemeClr val="bg1"/>
                </a:solidFill>
              </a:rPr>
              <a:t>Pcsg</a:t>
            </a:r>
            <a:r>
              <a:rPr lang="es-VE" u="sng" dirty="0" smtClean="0">
                <a:solidFill>
                  <a:schemeClr val="bg1"/>
                </a:solidFill>
              </a:rPr>
              <a:t> x NL</a:t>
            </a:r>
            <a:r>
              <a:rPr lang="es-VE" dirty="0" smtClean="0">
                <a:solidFill>
                  <a:schemeClr val="bg1"/>
                </a:solidFill>
              </a:rPr>
              <a:t>     (psi).</a:t>
            </a:r>
            <a:r>
              <a:rPr lang="es-VE" u="sng" dirty="0" smtClean="0">
                <a:solidFill>
                  <a:schemeClr val="bg1"/>
                </a:solidFill>
              </a:rPr>
              <a:t/>
            </a:r>
            <a:br>
              <a:rPr lang="es-VE" u="sng" dirty="0" smtClean="0">
                <a:solidFill>
                  <a:schemeClr val="bg1"/>
                </a:solidFill>
              </a:rPr>
            </a:br>
            <a:r>
              <a:rPr lang="es-VE" dirty="0" smtClean="0">
                <a:solidFill>
                  <a:schemeClr val="bg1"/>
                </a:solidFill>
              </a:rPr>
              <a:t>             30.000</a:t>
            </a:r>
          </a:p>
          <a:p>
            <a:endParaRPr lang="es-VE" u="sng" dirty="0" smtClean="0">
              <a:solidFill>
                <a:schemeClr val="bg1"/>
              </a:solidFill>
            </a:endParaRPr>
          </a:p>
          <a:p>
            <a:endParaRPr lang="es-VE" u="sng" dirty="0" smtClean="0">
              <a:solidFill>
                <a:schemeClr val="bg1"/>
              </a:solidFill>
            </a:endParaRPr>
          </a:p>
          <a:p>
            <a:r>
              <a:rPr lang="es-VE" dirty="0" smtClean="0">
                <a:solidFill>
                  <a:schemeClr val="bg1"/>
                </a:solidFill>
              </a:rPr>
              <a:t>Gradiente de Petróleo, </a:t>
            </a:r>
            <a:r>
              <a:rPr lang="es-VE" dirty="0" err="1" smtClean="0">
                <a:solidFill>
                  <a:schemeClr val="bg1"/>
                </a:solidFill>
              </a:rPr>
              <a:t>Goil</a:t>
            </a:r>
            <a:r>
              <a:rPr lang="es-VE" dirty="0" smtClean="0">
                <a:solidFill>
                  <a:schemeClr val="bg1"/>
                </a:solidFill>
              </a:rPr>
              <a:t>.</a:t>
            </a:r>
          </a:p>
          <a:p>
            <a:endParaRPr lang="es-VE" sz="1100" dirty="0" smtClean="0">
              <a:solidFill>
                <a:schemeClr val="bg1"/>
              </a:solidFill>
            </a:endParaRPr>
          </a:p>
          <a:p>
            <a:r>
              <a:rPr lang="es-VE" dirty="0" err="1" smtClean="0">
                <a:solidFill>
                  <a:schemeClr val="bg1"/>
                </a:solidFill>
              </a:rPr>
              <a:t>Goil</a:t>
            </a:r>
            <a:r>
              <a:rPr lang="es-VE" dirty="0" smtClean="0">
                <a:solidFill>
                  <a:schemeClr val="bg1"/>
                </a:solidFill>
              </a:rPr>
              <a:t> = </a:t>
            </a:r>
            <a:r>
              <a:rPr lang="es-VE" u="sng" dirty="0" smtClean="0">
                <a:solidFill>
                  <a:schemeClr val="bg1"/>
                </a:solidFill>
              </a:rPr>
              <a:t>        61.3         </a:t>
            </a:r>
            <a:r>
              <a:rPr lang="es-VE" dirty="0" smtClean="0">
                <a:solidFill>
                  <a:schemeClr val="bg1"/>
                </a:solidFill>
              </a:rPr>
              <a:t>   (psi/ft)</a:t>
            </a:r>
            <a:r>
              <a:rPr lang="es-VE" sz="3200" u="sng" dirty="0" smtClean="0">
                <a:solidFill>
                  <a:schemeClr val="bg1"/>
                </a:solidFill>
              </a:rPr>
              <a:t/>
            </a:r>
            <a:br>
              <a:rPr lang="es-VE" sz="3200" u="sng" dirty="0" smtClean="0">
                <a:solidFill>
                  <a:schemeClr val="bg1"/>
                </a:solidFill>
              </a:rPr>
            </a:br>
            <a:r>
              <a:rPr lang="es-VE" dirty="0" smtClean="0">
                <a:solidFill>
                  <a:schemeClr val="bg1"/>
                </a:solidFill>
              </a:rPr>
              <a:t>            °API + 131.5</a:t>
            </a:r>
          </a:p>
          <a:p>
            <a:endParaRPr lang="es-VE" dirty="0" smtClean="0">
              <a:solidFill>
                <a:schemeClr val="bg1"/>
              </a:solidFill>
            </a:endParaRPr>
          </a:p>
          <a:p>
            <a:r>
              <a:rPr lang="es-VE" dirty="0" smtClean="0">
                <a:solidFill>
                  <a:schemeClr val="bg1"/>
                </a:solidFill>
              </a:rPr>
              <a:t>Presión de la Columna de Petróleo, </a:t>
            </a:r>
            <a:r>
              <a:rPr lang="es-VE" dirty="0" err="1" smtClean="0">
                <a:solidFill>
                  <a:schemeClr val="bg1"/>
                </a:solidFill>
              </a:rPr>
              <a:t>Poil</a:t>
            </a:r>
            <a:r>
              <a:rPr lang="es-VE" dirty="0" smtClean="0">
                <a:solidFill>
                  <a:schemeClr val="bg1"/>
                </a:solidFill>
              </a:rPr>
              <a:t>.</a:t>
            </a:r>
          </a:p>
          <a:p>
            <a:r>
              <a:rPr lang="es-VE" dirty="0" err="1" smtClean="0">
                <a:solidFill>
                  <a:schemeClr val="bg1"/>
                </a:solidFill>
              </a:rPr>
              <a:t>Poil</a:t>
            </a:r>
            <a:r>
              <a:rPr lang="es-VE" dirty="0" smtClean="0">
                <a:solidFill>
                  <a:schemeClr val="bg1"/>
                </a:solidFill>
              </a:rPr>
              <a:t> = </a:t>
            </a:r>
            <a:r>
              <a:rPr lang="es-VE" dirty="0" err="1" smtClean="0">
                <a:solidFill>
                  <a:schemeClr val="bg1"/>
                </a:solidFill>
              </a:rPr>
              <a:t>Goil</a:t>
            </a:r>
            <a:r>
              <a:rPr lang="es-VE" dirty="0" smtClean="0">
                <a:solidFill>
                  <a:schemeClr val="bg1"/>
                </a:solidFill>
              </a:rPr>
              <a:t>  x  L    (psi)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428596" y="913139"/>
            <a:ext cx="4480714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r>
              <a:rPr lang="es-ES" sz="6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Preguntas?</a:t>
            </a:r>
            <a:endParaRPr lang="es-ES" sz="6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3" name="Picture 3" descr="PE01561_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00298" y="2428868"/>
            <a:ext cx="4583113" cy="3041650"/>
          </a:xfrm>
          <a:prstGeom prst="rect">
            <a:avLst/>
          </a:prstGeom>
          <a:noFill/>
        </p:spPr>
      </p:pic>
      <p:pic>
        <p:nvPicPr>
          <p:cNvPr id="4" name="Picture 1027" descr="Echomet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59680" y="0"/>
            <a:ext cx="1784320" cy="3508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chni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245</TotalTime>
  <Words>145</Words>
  <Application>Microsoft Office PowerPoint</Application>
  <PresentationFormat>Presentación en pantalla (4:3)</PresentationFormat>
  <Paragraphs>44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Technic</vt:lpstr>
      <vt:lpstr>Diapositiva 1</vt:lpstr>
      <vt:lpstr>Diapositiva 2</vt:lpstr>
      <vt:lpstr>Diapositiva 3</vt:lpstr>
      <vt:lpstr>Diapositiva 4</vt:lpstr>
      <vt:lpstr>Diapositiva 5</vt:lpstr>
    </vt:vector>
  </TitlesOfParts>
  <Company>UPCO de Veneuela, S.A.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Dimas Reyes</dc:creator>
  <cp:lastModifiedBy>Dimas Reyes</cp:lastModifiedBy>
  <cp:revision>51</cp:revision>
  <dcterms:created xsi:type="dcterms:W3CDTF">2009-05-29T18:16:37Z</dcterms:created>
  <dcterms:modified xsi:type="dcterms:W3CDTF">2010-06-14T03:46:25Z</dcterms:modified>
</cp:coreProperties>
</file>